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>
    <a:defPPr/>
    <a:lvl1pPr marL="0" algn="l"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4-3.png"/><Relationship Id="rId3" Type="http://schemas.openxmlformats.org/officeDocument/2006/relationships/image" Target="../media/image-4-4.png"/><Relationship Id="rId4" Type="http://schemas.openxmlformats.org/officeDocument/2006/relationships/image" Target="../media/image-4-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shape148"/>
          <p:cNvSpPr/>
          <p:nvPr/>
        </p:nvSpPr>
        <p:spPr>
          <a:xfrm>
            <a:off x="0" y="0"/>
            <a:ext cx="220000" cy="6858000"/>
          </a:xfrm>
          <a:prstGeom prst="rect">
            <a:avLst/>
          </a:prstGeom>
          <a:solidFill>
            <a:srgbClr val="486B51"/>
          </a:solidFill>
          <a:ln>
            <a:noFill/>
          </a:ln>
        </p:spPr>
      </p:sp>
      <p:sp>
        <p:nvSpPr>
          <p:cNvPr id="149" name="shape149"/>
          <p:cNvSpPr/>
          <p:nvPr/>
        </p:nvSpPr>
        <p:spPr>
          <a:xfrm>
            <a:off x="760000" y="920000"/>
            <a:ext cx="5450000" cy="38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272724"/>
            </a:solidFill>
          </a:ln>
        </p:spPr>
      </p:sp>
      <p:sp>
        <p:nvSpPr>
          <p:cNvPr id="150" name="text150"/>
          <p:cNvSpPr/>
          <p:nvPr/>
        </p:nvSpPr>
        <p:spPr>
          <a:xfrm>
            <a:off x="1050000" y="11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LOCAL FIELD INTELLIGENCE</a:t>
            </a:r>
            <a:endParaRPr lang="en-US" sz="1000" b="1"/>
          </a:p>
        </p:txBody>
      </p:sp>
      <p:sp>
        <p:nvSpPr>
          <p:cNvPr id="151" name="text151"/>
          <p:cNvSpPr/>
          <p:nvPr/>
        </p:nvSpPr>
        <p:spPr>
          <a:xfrm>
            <a:off x="1020000" y="1650000"/>
            <a:ext cx="5000000" cy="1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5600" b="1">
                <a:latin typeface="Georgia"/>
                <a:solidFill>
                  <a:srgbClr val="272724"/>
                </a:solidFill>
              </a:defRPr>
            </a:pPr>
            <a:r>
              <a:rPr lang="en-US" sz="5600" b="1">
                <a:latin typeface="Georgia"/>
                <a:solidFill>
                  <a:srgbClr val="272724"/>
                </a:solidFill>
              </a:rPr>
              <a:t>Botanika</a:t>
            </a:r>
            <a:endParaRPr lang="en-US" sz="5600" b="1"/>
          </a:p>
        </p:txBody>
      </p:sp>
      <p:sp>
        <p:nvSpPr>
          <p:cNvPr id="152" name="text152"/>
          <p:cNvSpPr/>
          <p:nvPr/>
        </p:nvSpPr>
        <p:spPr>
          <a:xfrm>
            <a:off x="1050000" y="3080000"/>
            <a:ext cx="460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500" b="1">
                <a:latin typeface="Georgia"/>
                <a:solidFill>
                  <a:srgbClr val="486B51"/>
                </a:solidFill>
              </a:defRPr>
            </a:pPr>
            <a:r>
              <a:rPr lang="en-US" sz="2500" b="1">
                <a:latin typeface="Georgia"/>
                <a:solidFill>
                  <a:srgbClr val="486B51"/>
                </a:solidFill>
              </a:rPr>
              <a:t>An AR + AI assistant for</a:t>
            </a:r>
            <a:endParaRPr lang="en-US" sz="2500" b="1"/>
          </a:p>
          <a:p>
            <a:pPr algn="l">
              <a:defRPr sz="2500" b="1">
                <a:latin typeface="Georgia"/>
                <a:solidFill>
                  <a:srgbClr val="486B51"/>
                </a:solidFill>
              </a:defRPr>
            </a:pPr>
            <a:r>
              <a:rPr lang="en-US" sz="2500" b="1">
                <a:latin typeface="Georgia"/>
                <a:solidFill>
                  <a:srgbClr val="486B51"/>
                </a:solidFill>
              </a:rPr>
              <a:t>India’s native flora</a:t>
            </a:r>
            <a:endParaRPr lang="en-US" sz="2500" b="1"/>
          </a:p>
        </p:txBody>
      </p:sp>
      <p:sp>
        <p:nvSpPr>
          <p:cNvPr id="153" name="text153"/>
          <p:cNvSpPr/>
          <p:nvPr/>
        </p:nvSpPr>
        <p:spPr>
          <a:xfrm>
            <a:off x="1050000" y="4060000"/>
            <a:ext cx="440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500" b="1">
                <a:latin typeface="Arial"/>
                <a:solidFill>
                  <a:srgbClr val="5F5E59"/>
                </a:solidFill>
              </a:defRPr>
            </a:pPr>
            <a:r>
              <a:rPr lang="en-US" sz="1500" b="1">
                <a:latin typeface="Arial"/>
                <a:solidFill>
                  <a:srgbClr val="5F5E59"/>
                </a:solidFill>
              </a:rPr>
              <a:t>Scan  ·  understand  ·  conserve</a:t>
            </a:r>
            <a:endParaRPr lang="en-US" sz="1500" b="1"/>
          </a:p>
        </p:txBody>
      </p:sp>
      <p:sp>
        <p:nvSpPr>
          <p:cNvPr id="154" name="shape154"/>
          <p:cNvSpPr/>
          <p:nvPr/>
        </p:nvSpPr>
        <p:spPr>
          <a:xfrm>
            <a:off x="7100000" y="950000"/>
            <a:ext cx="4100000" cy="520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272724"/>
            </a:solidFill>
          </a:ln>
        </p:spPr>
      </p:sp>
      <p:sp>
        <p:nvSpPr>
          <p:cNvPr id="155" name="text155"/>
          <p:cNvSpPr/>
          <p:nvPr/>
        </p:nvSpPr>
        <p:spPr>
          <a:xfrm>
            <a:off x="7450000" y="1310000"/>
            <a:ext cx="3300000" cy="8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800" b="1">
                <a:latin typeface="Georgia"/>
                <a:solidFill>
                  <a:srgbClr val="272724"/>
                </a:solidFill>
              </a:defRPr>
            </a:pPr>
            <a:r>
              <a:rPr lang="en-US" sz="2800" b="1">
                <a:latin typeface="Georgia"/>
                <a:solidFill>
                  <a:srgbClr val="272724"/>
                </a:solidFill>
              </a:rPr>
              <a:t>Turn a phone into a</a:t>
            </a:r>
            <a:endParaRPr lang="en-US" sz="2800" b="1"/>
          </a:p>
          <a:p>
            <a:pPr algn="l">
              <a:defRPr sz="2800" b="1">
                <a:latin typeface="Georgia"/>
                <a:solidFill>
                  <a:srgbClr val="272724"/>
                </a:solidFill>
              </a:defRPr>
            </a:pPr>
            <a:r>
              <a:rPr lang="en-US" sz="2800" b="1">
                <a:latin typeface="Georgia"/>
                <a:solidFill>
                  <a:srgbClr val="272724"/>
                </a:solidFill>
              </a:rPr>
              <a:t>biodiversity field assistant.</a:t>
            </a:r>
            <a:endParaRPr lang="en-US" sz="2800" b="1"/>
          </a:p>
        </p:txBody>
      </p:sp>
      <p:sp>
        <p:nvSpPr>
          <p:cNvPr id="156" name="text156"/>
          <p:cNvSpPr/>
          <p:nvPr/>
        </p:nvSpPr>
        <p:spPr>
          <a:xfrm>
            <a:off x="7470000" y="2450000"/>
            <a:ext cx="3150000" cy="1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A campus-focused prototype combining plant identification, AR-style context, an offline botanical guide, and conservation-aware discovery records.</a:t>
            </a:r>
            <a:endParaRPr lang="en-US" sz="1600"/>
          </a:p>
        </p:txBody>
      </p:sp>
      <p:sp>
        <p:nvSpPr>
          <p:cNvPr id="157" name="shape157"/>
          <p:cNvSpPr/>
          <p:nvPr/>
        </p:nvSpPr>
        <p:spPr>
          <a:xfrm>
            <a:off x="8120000" y="3890000"/>
            <a:ext cx="2210000" cy="17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8" name="01-pi-home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150000" y="4100000"/>
            <a:ext cx="2150000" cy="1290000"/>
          </a:xfrm>
          <a:prstGeom prst="rect">
            <a:avLst/>
          </a:prstGeom>
        </p:spPr>
      </p:pic>
      <p:sp>
        <p:nvSpPr>
          <p:cNvPr id="159" name="shape159"/>
          <p:cNvSpPr/>
          <p:nvPr/>
        </p:nvSpPr>
        <p:spPr>
          <a:xfrm>
            <a:off x="1050000" y="5250000"/>
            <a:ext cx="4900000" cy="47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60" name="text160"/>
          <p:cNvSpPr/>
          <p:nvPr/>
        </p:nvSpPr>
        <p:spPr>
          <a:xfrm>
            <a:off x="1250000" y="5380000"/>
            <a:ext cx="4500000" cy="19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F7F4E9"/>
                </a:solidFill>
              </a:defRPr>
            </a:pPr>
            <a:r>
              <a:rPr lang="en-US" sz="1000" b="1">
                <a:latin typeface="Arial"/>
                <a:solidFill>
                  <a:srgbClr val="F7F4E9"/>
                </a:solidFill>
              </a:rPr>
              <a:t>TEAM BOTANIKA  ·  MEMBERS TO BE ADDED</a:t>
            </a:r>
            <a:endParaRPr lang="en-US" sz="1000" b="1"/>
          </a:p>
        </p:txBody>
      </p:sp>
      <p:sp>
        <p:nvSpPr>
          <p:cNvPr id="161" name="shape161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2" name="text162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3" name="text163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01</a:t>
            </a:r>
            <a:endParaRPr lang="en-US" sz="9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01  ·  SOLUTION OVERVIEW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7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From plant sighting to local knowledge</a:t>
            </a:r>
            <a:endParaRPr lang="en-US" sz="3100" b="1"/>
          </a:p>
        </p:txBody>
      </p:sp>
      <p:sp>
        <p:nvSpPr>
          <p:cNvPr id="150" name="shape150"/>
          <p:cNvSpPr/>
          <p:nvPr/>
        </p:nvSpPr>
        <p:spPr>
          <a:xfrm>
            <a:off x="600000" y="1650000"/>
            <a:ext cx="3350000" cy="39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272724"/>
            </a:solidFill>
          </a:ln>
        </p:spPr>
      </p:sp>
      <p:sp>
        <p:nvSpPr>
          <p:cNvPr id="151" name="text151"/>
          <p:cNvSpPr/>
          <p:nvPr/>
        </p:nvSpPr>
        <p:spPr>
          <a:xfrm>
            <a:off x="900000" y="1960000"/>
            <a:ext cx="2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8B3028"/>
                </a:solidFill>
              </a:defRPr>
            </a:pPr>
            <a:r>
              <a:rPr lang="en-US" sz="1000" b="1">
                <a:latin typeface="Arial"/>
                <a:solidFill>
                  <a:srgbClr val="8B3028"/>
                </a:solidFill>
              </a:rPr>
              <a:t>THE GAP</a:t>
            </a:r>
            <a:endParaRPr lang="en-US" sz="1000" b="1"/>
          </a:p>
        </p:txBody>
      </p:sp>
      <p:sp>
        <p:nvSpPr>
          <p:cNvPr id="152" name="text152"/>
          <p:cNvSpPr/>
          <p:nvPr/>
        </p:nvSpPr>
        <p:spPr>
          <a:xfrm>
            <a:off x="900000" y="2380000"/>
            <a:ext cx="265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300" b="1">
                <a:latin typeface="Georgia"/>
                <a:solidFill>
                  <a:srgbClr val="272724"/>
                </a:solidFill>
              </a:defRPr>
            </a:pPr>
            <a:r>
              <a:rPr lang="en-US" sz="2300" b="1">
                <a:latin typeface="Georgia"/>
                <a:solidFill>
                  <a:srgbClr val="272724"/>
                </a:solidFill>
              </a:rPr>
              <a:t>Native plants are</a:t>
            </a:r>
            <a:endParaRPr lang="en-US" sz="2300" b="1"/>
          </a:p>
          <a:p>
            <a:pPr algn="l">
              <a:defRPr sz="2300" b="1">
                <a:latin typeface="Georgia"/>
                <a:solidFill>
                  <a:srgbClr val="272724"/>
                </a:solidFill>
              </a:defRPr>
            </a:pPr>
            <a:r>
              <a:rPr lang="en-US" sz="2300" b="1">
                <a:latin typeface="Georgia"/>
                <a:solidFill>
                  <a:srgbClr val="272724"/>
                </a:solidFill>
              </a:rPr>
              <a:t>visible but overlooked.</a:t>
            </a:r>
            <a:endParaRPr lang="en-US" sz="2300" b="1"/>
          </a:p>
        </p:txBody>
      </p:sp>
      <p:sp>
        <p:nvSpPr>
          <p:cNvPr id="153" name="text153"/>
          <p:cNvSpPr/>
          <p:nvPr/>
        </p:nvSpPr>
        <p:spPr>
          <a:xfrm>
            <a:off x="900000" y="3300000"/>
            <a:ext cx="265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Scientific context is scattered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Field identification can be uncertain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Conservation action needs local evidence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Connectivity cannot be assumed</a:t>
            </a:r>
            <a:endParaRPr lang="en-US" sz="1600"/>
          </a:p>
        </p:txBody>
      </p:sp>
      <p:sp>
        <p:nvSpPr>
          <p:cNvPr id="154" name="text154"/>
          <p:cNvSpPr/>
          <p:nvPr/>
        </p:nvSpPr>
        <p:spPr>
          <a:xfrm>
            <a:off x="900000" y="5020000"/>
            <a:ext cx="265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Pilot lens: campus / garden / biodiversity park</a:t>
            </a:r>
            <a:endParaRPr lang="en-US" sz="1200" b="1"/>
          </a:p>
        </p:txBody>
      </p:sp>
      <p:sp>
        <p:nvSpPr>
          <p:cNvPr id="155" name="text155"/>
          <p:cNvSpPr/>
          <p:nvPr/>
        </p:nvSpPr>
        <p:spPr>
          <a:xfrm>
            <a:off x="4480000" y="1760000"/>
            <a:ext cx="69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 b="1">
                <a:latin typeface="Arial"/>
                <a:solidFill>
                  <a:srgbClr val="486B51"/>
                </a:solidFill>
              </a:defRPr>
            </a:pPr>
            <a:r>
              <a:rPr lang="en-US" sz="1100" b="1">
                <a:latin typeface="Arial"/>
                <a:solidFill>
                  <a:srgbClr val="486B51"/>
                </a:solidFill>
              </a:rPr>
              <a:t>USER JOURNEY  ·  ONE CLEAR LOOP</a:t>
            </a:r>
            <a:endParaRPr lang="en-US" sz="1100" b="1"/>
          </a:p>
        </p:txBody>
      </p:sp>
      <p:sp>
        <p:nvSpPr>
          <p:cNvPr id="156" name="shape156"/>
          <p:cNvSpPr/>
          <p:nvPr/>
        </p:nvSpPr>
        <p:spPr>
          <a:xfrm>
            <a:off x="4480000" y="2350000"/>
            <a:ext cx="1320000" cy="25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57" name="text157"/>
          <p:cNvSpPr/>
          <p:nvPr/>
        </p:nvSpPr>
        <p:spPr>
          <a:xfrm>
            <a:off x="4640000" y="2600000"/>
            <a:ext cx="8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01</a:t>
            </a:r>
            <a:endParaRPr lang="en-US" sz="1200" b="1"/>
          </a:p>
        </p:txBody>
      </p:sp>
      <p:sp>
        <p:nvSpPr>
          <p:cNvPr id="158" name="text158"/>
          <p:cNvSpPr/>
          <p:nvPr/>
        </p:nvSpPr>
        <p:spPr>
          <a:xfrm>
            <a:off x="4630000" y="3080000"/>
            <a:ext cx="102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000" b="1">
                <a:latin typeface="Georgia"/>
                <a:solidFill>
                  <a:srgbClr val="272724"/>
                </a:solidFill>
              </a:defRPr>
            </a:pPr>
            <a:r>
              <a:rPr lang="en-US" sz="2000" b="1">
                <a:latin typeface="Georgia"/>
                <a:solidFill>
                  <a:srgbClr val="272724"/>
                </a:solidFill>
              </a:rPr>
              <a:t>Find</a:t>
            </a:r>
            <a:endParaRPr lang="en-US" sz="2000" b="1"/>
          </a:p>
        </p:txBody>
      </p:sp>
      <p:sp>
        <p:nvSpPr>
          <p:cNvPr id="159" name="text159"/>
          <p:cNvSpPr/>
          <p:nvPr/>
        </p:nvSpPr>
        <p:spPr>
          <a:xfrm>
            <a:off x="4630000" y="3650000"/>
            <a:ext cx="102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>
                <a:latin typeface="Arial"/>
                <a:solidFill>
                  <a:srgbClr val="5F5E59"/>
                </a:solidFill>
              </a:defRPr>
            </a:pPr>
            <a:r>
              <a:rPr lang="en-US" sz="1200">
                <a:latin typeface="Arial"/>
                <a:solidFill>
                  <a:srgbClr val="5F5E59"/>
                </a:solidFill>
              </a:rPr>
              <a:t>Open Scan or Weed Detection</a:t>
            </a:r>
            <a:endParaRPr lang="en-US" sz="1200"/>
          </a:p>
        </p:txBody>
      </p:sp>
      <p:sp>
        <p:nvSpPr>
          <p:cNvPr id="160" name="shape160"/>
          <p:cNvSpPr/>
          <p:nvPr/>
        </p:nvSpPr>
        <p:spPr>
          <a:xfrm>
            <a:off x="5820000" y="3540000"/>
            <a:ext cx="350000" cy="20000"/>
          </a:xfrm>
          <a:prstGeom prst="rect">
            <a:avLst/>
          </a:prstGeom>
          <a:solidFill>
            <a:srgbClr val="486B51"/>
          </a:solidFill>
          <a:ln>
            <a:noFill/>
          </a:ln>
        </p:spPr>
      </p:sp>
      <p:sp>
        <p:nvSpPr>
          <p:cNvPr id="161" name="shape161"/>
          <p:cNvSpPr/>
          <p:nvPr/>
        </p:nvSpPr>
        <p:spPr>
          <a:xfrm>
            <a:off x="6200000" y="2350000"/>
            <a:ext cx="1320000" cy="25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62" name="text162"/>
          <p:cNvSpPr/>
          <p:nvPr/>
        </p:nvSpPr>
        <p:spPr>
          <a:xfrm>
            <a:off x="6360000" y="2600000"/>
            <a:ext cx="8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02</a:t>
            </a:r>
            <a:endParaRPr lang="en-US" sz="1200" b="1"/>
          </a:p>
        </p:txBody>
      </p:sp>
      <p:sp>
        <p:nvSpPr>
          <p:cNvPr id="163" name="text163"/>
          <p:cNvSpPr/>
          <p:nvPr/>
        </p:nvSpPr>
        <p:spPr>
          <a:xfrm>
            <a:off x="6350000" y="3080000"/>
            <a:ext cx="102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000" b="1">
                <a:latin typeface="Georgia"/>
                <a:solidFill>
                  <a:srgbClr val="272724"/>
                </a:solidFill>
              </a:defRPr>
            </a:pPr>
            <a:r>
              <a:rPr lang="en-US" sz="2000" b="1">
                <a:latin typeface="Georgia"/>
                <a:solidFill>
                  <a:srgbClr val="272724"/>
                </a:solidFill>
              </a:rPr>
              <a:t>Frame</a:t>
            </a:r>
            <a:endParaRPr lang="en-US" sz="2000" b="1"/>
          </a:p>
        </p:txBody>
      </p:sp>
      <p:sp>
        <p:nvSpPr>
          <p:cNvPr id="164" name="text164"/>
          <p:cNvSpPr/>
          <p:nvPr/>
        </p:nvSpPr>
        <p:spPr>
          <a:xfrm>
            <a:off x="6350000" y="3650000"/>
            <a:ext cx="102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>
                <a:latin typeface="Arial"/>
                <a:solidFill>
                  <a:srgbClr val="5F5E59"/>
                </a:solidFill>
              </a:defRPr>
            </a:pPr>
            <a:r>
              <a:rPr lang="en-US" sz="1200">
                <a:latin typeface="Arial"/>
                <a:solidFill>
                  <a:srgbClr val="5F5E59"/>
                </a:solidFill>
              </a:rPr>
              <a:t>Hold steady; crop the target</a:t>
            </a:r>
            <a:endParaRPr lang="en-US" sz="1200"/>
          </a:p>
        </p:txBody>
      </p:sp>
      <p:sp>
        <p:nvSpPr>
          <p:cNvPr id="165" name="shape165"/>
          <p:cNvSpPr/>
          <p:nvPr/>
        </p:nvSpPr>
        <p:spPr>
          <a:xfrm>
            <a:off x="7540000" y="3540000"/>
            <a:ext cx="350000" cy="20000"/>
          </a:xfrm>
          <a:prstGeom prst="rect">
            <a:avLst/>
          </a:prstGeom>
          <a:solidFill>
            <a:srgbClr val="486B51"/>
          </a:solidFill>
          <a:ln>
            <a:noFill/>
          </a:ln>
        </p:spPr>
      </p:sp>
      <p:sp>
        <p:nvSpPr>
          <p:cNvPr id="166" name="shape166"/>
          <p:cNvSpPr/>
          <p:nvPr/>
        </p:nvSpPr>
        <p:spPr>
          <a:xfrm>
            <a:off x="7920000" y="2350000"/>
            <a:ext cx="1320000" cy="25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67" name="text167"/>
          <p:cNvSpPr/>
          <p:nvPr/>
        </p:nvSpPr>
        <p:spPr>
          <a:xfrm>
            <a:off x="8080000" y="2600000"/>
            <a:ext cx="8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03</a:t>
            </a:r>
            <a:endParaRPr lang="en-US" sz="1200" b="1"/>
          </a:p>
        </p:txBody>
      </p:sp>
      <p:sp>
        <p:nvSpPr>
          <p:cNvPr id="168" name="text168"/>
          <p:cNvSpPr/>
          <p:nvPr/>
        </p:nvSpPr>
        <p:spPr>
          <a:xfrm>
            <a:off x="8070000" y="3080000"/>
            <a:ext cx="102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000" b="1">
                <a:latin typeface="Georgia"/>
                <a:solidFill>
                  <a:srgbClr val="272724"/>
                </a:solidFill>
              </a:defRPr>
            </a:pPr>
            <a:r>
              <a:rPr lang="en-US" sz="2000" b="1">
                <a:latin typeface="Georgia"/>
                <a:solidFill>
                  <a:srgbClr val="272724"/>
                </a:solidFill>
              </a:rPr>
              <a:t>Learn</a:t>
            </a:r>
            <a:endParaRPr lang="en-US" sz="2000" b="1"/>
          </a:p>
        </p:txBody>
      </p:sp>
      <p:sp>
        <p:nvSpPr>
          <p:cNvPr id="169" name="text169"/>
          <p:cNvSpPr/>
          <p:nvPr/>
        </p:nvSpPr>
        <p:spPr>
          <a:xfrm>
            <a:off x="8070000" y="3650000"/>
            <a:ext cx="102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>
                <a:latin typeface="Arial"/>
                <a:solidFill>
                  <a:srgbClr val="5F5E59"/>
                </a:solidFill>
              </a:defRPr>
            </a:pPr>
            <a:r>
              <a:rPr lang="en-US" sz="1200">
                <a:latin typeface="Arial"/>
                <a:solidFill>
                  <a:srgbClr val="5F5E59"/>
                </a:solidFill>
              </a:rPr>
              <a:t>Name, family, ecology, status</a:t>
            </a:r>
            <a:endParaRPr lang="en-US" sz="1200"/>
          </a:p>
        </p:txBody>
      </p:sp>
      <p:sp>
        <p:nvSpPr>
          <p:cNvPr id="170" name="shape170"/>
          <p:cNvSpPr/>
          <p:nvPr/>
        </p:nvSpPr>
        <p:spPr>
          <a:xfrm>
            <a:off x="9260000" y="3540000"/>
            <a:ext cx="350000" cy="20000"/>
          </a:xfrm>
          <a:prstGeom prst="rect">
            <a:avLst/>
          </a:prstGeom>
          <a:solidFill>
            <a:srgbClr val="486B51"/>
          </a:solidFill>
          <a:ln>
            <a:noFill/>
          </a:ln>
        </p:spPr>
      </p:sp>
      <p:sp>
        <p:nvSpPr>
          <p:cNvPr id="171" name="shape171"/>
          <p:cNvSpPr/>
          <p:nvPr/>
        </p:nvSpPr>
        <p:spPr>
          <a:xfrm>
            <a:off x="9640000" y="2350000"/>
            <a:ext cx="1320000" cy="250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72" name="text172"/>
          <p:cNvSpPr/>
          <p:nvPr/>
        </p:nvSpPr>
        <p:spPr>
          <a:xfrm>
            <a:off x="9800000" y="2600000"/>
            <a:ext cx="85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04</a:t>
            </a:r>
            <a:endParaRPr lang="en-US" sz="1200" b="1"/>
          </a:p>
        </p:txBody>
      </p:sp>
      <p:sp>
        <p:nvSpPr>
          <p:cNvPr id="173" name="text173"/>
          <p:cNvSpPr/>
          <p:nvPr/>
        </p:nvSpPr>
        <p:spPr>
          <a:xfrm>
            <a:off x="9790000" y="3080000"/>
            <a:ext cx="1020000" cy="3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000" b="1">
                <a:latin typeface="Georgia"/>
                <a:solidFill>
                  <a:srgbClr val="272724"/>
                </a:solidFill>
              </a:defRPr>
            </a:pPr>
            <a:r>
              <a:rPr lang="en-US" sz="2000" b="1">
                <a:latin typeface="Georgia"/>
                <a:solidFill>
                  <a:srgbClr val="272724"/>
                </a:solidFill>
              </a:rPr>
              <a:t>Keep</a:t>
            </a:r>
            <a:endParaRPr lang="en-US" sz="2000" b="1"/>
          </a:p>
        </p:txBody>
      </p:sp>
      <p:sp>
        <p:nvSpPr>
          <p:cNvPr id="174" name="text174"/>
          <p:cNvSpPr/>
          <p:nvPr/>
        </p:nvSpPr>
        <p:spPr>
          <a:xfrm>
            <a:off x="9790000" y="3650000"/>
            <a:ext cx="102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>
                <a:latin typeface="Arial"/>
                <a:solidFill>
                  <a:srgbClr val="5F5E59"/>
                </a:solidFill>
              </a:defRPr>
            </a:pPr>
            <a:r>
              <a:rPr lang="en-US" sz="1200">
                <a:latin typeface="Arial"/>
                <a:solidFill>
                  <a:srgbClr val="5F5E59"/>
                </a:solidFill>
              </a:rPr>
              <a:t>Save a discovery and build the campus record</a:t>
            </a:r>
            <a:endParaRPr lang="en-US" sz="1200"/>
          </a:p>
        </p:txBody>
      </p:sp>
      <p:sp>
        <p:nvSpPr>
          <p:cNvPr id="175" name="shape175"/>
          <p:cNvSpPr/>
          <p:nvPr/>
        </p:nvSpPr>
        <p:spPr>
          <a:xfrm>
            <a:off x="4480000" y="5250000"/>
            <a:ext cx="6900000" cy="41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76" name="text176"/>
          <p:cNvSpPr/>
          <p:nvPr/>
        </p:nvSpPr>
        <p:spPr>
          <a:xfrm>
            <a:off x="4700000" y="5370000"/>
            <a:ext cx="6400000" cy="1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 b="1">
                <a:latin typeface="Arial"/>
                <a:solidFill>
                  <a:srgbClr val="272724"/>
                </a:solidFill>
              </a:defRPr>
            </a:pPr>
            <a:r>
              <a:rPr lang="en-US" sz="1100" b="1">
                <a:latin typeface="Arial"/>
                <a:solidFill>
                  <a:srgbClr val="272724"/>
                </a:solidFill>
              </a:rPr>
              <a:t>Minimum brief fit: 7-species starter catalog  ·  offline guide  ·  regional library  ·  conservation-aware copy</a:t>
            </a:r>
            <a:endParaRPr lang="en-US" sz="1100" b="1"/>
          </a:p>
        </p:txBody>
      </p:sp>
      <p:sp>
        <p:nvSpPr>
          <p:cNvPr id="177" name="shape177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78" name="text178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79" name="text179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02</a:t>
            </a:r>
            <a:endParaRPr lang="en-US" sz="900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02  ·  TECHNICAL ARCHITECTURE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66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One Pi owns the intelligence</a:t>
            </a:r>
            <a:endParaRPr lang="en-US" sz="3100" b="1"/>
          </a:p>
        </p:txBody>
      </p:sp>
      <p:sp>
        <p:nvSpPr>
          <p:cNvPr id="150" name="text150"/>
          <p:cNvSpPr/>
          <p:nvPr/>
        </p:nvSpPr>
        <p:spPr>
          <a:xfrm>
            <a:off x="600000" y="1360000"/>
            <a:ext cx="70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Offline by default. The phone is a responsive controller; the Raspberry Pi remains the source of truth.</a:t>
            </a:r>
            <a:endParaRPr lang="en-US" sz="1500"/>
          </a:p>
        </p:txBody>
      </p:sp>
      <p:sp>
        <p:nvSpPr>
          <p:cNvPr id="151" name="shape151"/>
          <p:cNvSpPr/>
          <p:nvPr/>
        </p:nvSpPr>
        <p:spPr>
          <a:xfrm>
            <a:off x="700000" y="2040000"/>
            <a:ext cx="6300000" cy="5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52" name="shape152"/>
          <p:cNvSpPr/>
          <p:nvPr/>
        </p:nvSpPr>
        <p:spPr>
          <a:xfrm>
            <a:off x="700000" y="2040000"/>
            <a:ext cx="160000" cy="550000"/>
          </a:xfrm>
          <a:prstGeom prst="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53" name="text153"/>
          <p:cNvSpPr/>
          <p:nvPr/>
        </p:nvSpPr>
        <p:spPr>
          <a:xfrm>
            <a:off x="1050000" y="2135000"/>
            <a:ext cx="16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FIELD INPUT</a:t>
            </a:r>
            <a:endParaRPr lang="en-US" sz="1000" b="1"/>
          </a:p>
        </p:txBody>
      </p:sp>
      <p:sp>
        <p:nvSpPr>
          <p:cNvPr id="154" name="text154"/>
          <p:cNvSpPr/>
          <p:nvPr/>
        </p:nvSpPr>
        <p:spPr>
          <a:xfrm>
            <a:off x="2700000" y="2130000"/>
            <a:ext cx="4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400">
                <a:latin typeface="Arial"/>
                <a:solidFill>
                  <a:srgbClr val="272724"/>
                </a:solidFill>
              </a:defRPr>
            </a:pPr>
            <a:r>
              <a:rPr lang="en-US" sz="1400">
                <a:latin typeface="Arial"/>
                <a:solidFill>
                  <a:srgbClr val="272724"/>
                </a:solidFill>
              </a:rPr>
              <a:t>Pi Camera  ·  phone camera  ·  saved image fallback</a:t>
            </a:r>
            <a:endParaRPr lang="en-US" sz="1400"/>
          </a:p>
        </p:txBody>
      </p:sp>
      <p:sp>
        <p:nvSpPr>
          <p:cNvPr id="155" name="shape155"/>
          <p:cNvSpPr/>
          <p:nvPr/>
        </p:nvSpPr>
        <p:spPr>
          <a:xfrm>
            <a:off x="3770000" y="2600000"/>
            <a:ext cx="20000" cy="190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56" name="shape156"/>
          <p:cNvSpPr/>
          <p:nvPr/>
        </p:nvSpPr>
        <p:spPr>
          <a:xfrm>
            <a:off x="700000" y="2810000"/>
            <a:ext cx="6300000" cy="55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57" name="shape157"/>
          <p:cNvSpPr/>
          <p:nvPr/>
        </p:nvSpPr>
        <p:spPr>
          <a:xfrm>
            <a:off x="700000" y="2810000"/>
            <a:ext cx="160000" cy="55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sp>
        <p:nvSpPr>
          <p:cNvPr id="158" name="text158"/>
          <p:cNvSpPr/>
          <p:nvPr/>
        </p:nvSpPr>
        <p:spPr>
          <a:xfrm>
            <a:off x="1050000" y="2905000"/>
            <a:ext cx="16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272724"/>
                </a:solidFill>
              </a:defRPr>
            </a:pPr>
            <a:r>
              <a:rPr lang="en-US" sz="1000" b="1">
                <a:latin typeface="Arial"/>
                <a:solidFill>
                  <a:srgbClr val="272724"/>
                </a:solidFill>
              </a:rPr>
              <a:t>INTERACTION</a:t>
            </a:r>
            <a:endParaRPr lang="en-US" sz="1000" b="1"/>
          </a:p>
        </p:txBody>
      </p:sp>
      <p:sp>
        <p:nvSpPr>
          <p:cNvPr id="159" name="text159"/>
          <p:cNvSpPr/>
          <p:nvPr/>
        </p:nvSpPr>
        <p:spPr>
          <a:xfrm>
            <a:off x="2700000" y="2900000"/>
            <a:ext cx="4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400">
                <a:latin typeface="Arial"/>
                <a:solidFill>
                  <a:srgbClr val="272724"/>
                </a:solidFill>
              </a:defRPr>
            </a:pPr>
            <a:r>
              <a:rPr lang="en-US" sz="1400">
                <a:latin typeface="Arial"/>
                <a:solidFill>
                  <a:srgbClr val="272724"/>
                </a:solidFill>
              </a:rPr>
              <a:t>React + Vite  ·  fixed 800×480 kiosk  ·  responsive paired client</a:t>
            </a:r>
            <a:endParaRPr lang="en-US" sz="1400"/>
          </a:p>
        </p:txBody>
      </p:sp>
      <p:sp>
        <p:nvSpPr>
          <p:cNvPr id="160" name="shape160"/>
          <p:cNvSpPr/>
          <p:nvPr/>
        </p:nvSpPr>
        <p:spPr>
          <a:xfrm>
            <a:off x="3770000" y="3370000"/>
            <a:ext cx="20000" cy="190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1" name="shape161"/>
          <p:cNvSpPr/>
          <p:nvPr/>
        </p:nvSpPr>
        <p:spPr>
          <a:xfrm>
            <a:off x="700000" y="3580000"/>
            <a:ext cx="6300000" cy="5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AAA79E"/>
            </a:solidFill>
          </a:ln>
        </p:spPr>
      </p:sp>
      <p:sp>
        <p:nvSpPr>
          <p:cNvPr id="162" name="shape162"/>
          <p:cNvSpPr/>
          <p:nvPr/>
        </p:nvSpPr>
        <p:spPr>
          <a:xfrm>
            <a:off x="700000" y="3580000"/>
            <a:ext cx="160000" cy="550000"/>
          </a:xfrm>
          <a:prstGeom prst="rect">
            <a:avLst/>
          </a:prstGeom>
          <a:solidFill>
            <a:srgbClr val="8A692E"/>
          </a:solidFill>
          <a:ln w="900">
            <a:solidFill>
              <a:srgbClr val="8A692E"/>
            </a:solidFill>
          </a:ln>
        </p:spPr>
      </p:sp>
      <p:sp>
        <p:nvSpPr>
          <p:cNvPr id="163" name="text163"/>
          <p:cNvSpPr/>
          <p:nvPr/>
        </p:nvSpPr>
        <p:spPr>
          <a:xfrm>
            <a:off x="1050000" y="3675000"/>
            <a:ext cx="16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8A692E"/>
                </a:solidFill>
              </a:defRPr>
            </a:pPr>
            <a:r>
              <a:rPr lang="en-US" sz="1000" b="1">
                <a:latin typeface="Arial"/>
                <a:solidFill>
                  <a:srgbClr val="8A692E"/>
                </a:solidFill>
              </a:rPr>
              <a:t>LOCAL SERVICES</a:t>
            </a:r>
            <a:endParaRPr lang="en-US" sz="1000" b="1"/>
          </a:p>
        </p:txBody>
      </p:sp>
      <p:sp>
        <p:nvSpPr>
          <p:cNvPr id="164" name="text164"/>
          <p:cNvSpPr/>
          <p:nvPr/>
        </p:nvSpPr>
        <p:spPr>
          <a:xfrm>
            <a:off x="2700000" y="3670000"/>
            <a:ext cx="4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400">
                <a:latin typeface="Arial"/>
                <a:solidFill>
                  <a:srgbClr val="272724"/>
                </a:solidFill>
              </a:defRPr>
            </a:pPr>
            <a:r>
              <a:rPr lang="en-US" sz="1400">
                <a:latin typeface="Arial"/>
                <a:solidFill>
                  <a:srgbClr val="272724"/>
                </a:solidFill>
              </a:rPr>
              <a:t>FastAPI  ·  OpenCV / ONNX  ·  crop quality + lock-on + AR-style overlay</a:t>
            </a:r>
            <a:endParaRPr lang="en-US" sz="1400"/>
          </a:p>
        </p:txBody>
      </p:sp>
      <p:sp>
        <p:nvSpPr>
          <p:cNvPr id="165" name="shape165"/>
          <p:cNvSpPr/>
          <p:nvPr/>
        </p:nvSpPr>
        <p:spPr>
          <a:xfrm>
            <a:off x="3770000" y="4140000"/>
            <a:ext cx="20000" cy="190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6" name="shape166"/>
          <p:cNvSpPr/>
          <p:nvPr/>
        </p:nvSpPr>
        <p:spPr>
          <a:xfrm>
            <a:off x="700000" y="4350000"/>
            <a:ext cx="6300000" cy="55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67" name="shape167"/>
          <p:cNvSpPr/>
          <p:nvPr/>
        </p:nvSpPr>
        <p:spPr>
          <a:xfrm>
            <a:off x="700000" y="4350000"/>
            <a:ext cx="160000" cy="550000"/>
          </a:xfrm>
          <a:prstGeom prst="rect">
            <a:avLst/>
          </a:prstGeom>
          <a:solidFill>
            <a:srgbClr val="8B3028"/>
          </a:solidFill>
          <a:ln w="900">
            <a:solidFill>
              <a:srgbClr val="8B3028"/>
            </a:solidFill>
          </a:ln>
        </p:spPr>
      </p:sp>
      <p:sp>
        <p:nvSpPr>
          <p:cNvPr id="168" name="text168"/>
          <p:cNvSpPr/>
          <p:nvPr/>
        </p:nvSpPr>
        <p:spPr>
          <a:xfrm>
            <a:off x="1050000" y="4445000"/>
            <a:ext cx="16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8B3028"/>
                </a:solidFill>
              </a:defRPr>
            </a:pPr>
            <a:r>
              <a:rPr lang="en-US" sz="1000" b="1">
                <a:latin typeface="Arial"/>
                <a:solidFill>
                  <a:srgbClr val="8B3028"/>
                </a:solidFill>
              </a:rPr>
              <a:t>AUTHORITATIVE DATA</a:t>
            </a:r>
            <a:endParaRPr lang="en-US" sz="1000" b="1"/>
          </a:p>
        </p:txBody>
      </p:sp>
      <p:sp>
        <p:nvSpPr>
          <p:cNvPr id="169" name="text169"/>
          <p:cNvSpPr/>
          <p:nvPr/>
        </p:nvSpPr>
        <p:spPr>
          <a:xfrm>
            <a:off x="2700000" y="4440000"/>
            <a:ext cx="40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400">
                <a:latin typeface="Arial"/>
                <a:solidFill>
                  <a:srgbClr val="272724"/>
                </a:solidFill>
              </a:defRPr>
            </a:pPr>
            <a:r>
              <a:rPr lang="en-US" sz="1400">
                <a:latin typeface="Arial"/>
                <a:solidFill>
                  <a:srgbClr val="272724"/>
                </a:solidFill>
              </a:rPr>
              <a:t>SQLite  ·  discovery library  ·  offline knowledge base  ·  coordinate-only weed runs</a:t>
            </a:r>
            <a:endParaRPr lang="en-US" sz="1400"/>
          </a:p>
        </p:txBody>
      </p:sp>
      <p:sp>
        <p:nvSpPr>
          <p:cNvPr id="170" name="shape170"/>
          <p:cNvSpPr/>
          <p:nvPr/>
        </p:nvSpPr>
        <p:spPr>
          <a:xfrm>
            <a:off x="7450000" y="2040000"/>
            <a:ext cx="4050000" cy="362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272724"/>
            </a:solidFill>
          </a:ln>
        </p:spPr>
      </p:sp>
      <p:sp>
        <p:nvSpPr>
          <p:cNvPr id="171" name="text171"/>
          <p:cNvSpPr/>
          <p:nvPr/>
        </p:nvSpPr>
        <p:spPr>
          <a:xfrm>
            <a:off x="7800000" y="2350000"/>
            <a:ext cx="31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ENGINEERING CONTRACT</a:t>
            </a:r>
            <a:endParaRPr lang="en-US" sz="1000" b="1"/>
          </a:p>
        </p:txBody>
      </p:sp>
      <p:sp>
        <p:nvSpPr>
          <p:cNvPr id="172" name="text172"/>
          <p:cNvSpPr/>
          <p:nvPr/>
        </p:nvSpPr>
        <p:spPr>
          <a:xfrm>
            <a:off x="7800000" y="2790000"/>
            <a:ext cx="335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Single camera owner; stale frames dropped</a:t>
            </a:r>
            <a:endParaRPr lang="en-US" sz="1500"/>
          </a:p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Classify only an accepted padded crop</a:t>
            </a:r>
            <a:endParaRPr lang="en-US" sz="1500"/>
          </a:p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Unknown / low-confidence stays visible</a:t>
            </a:r>
            <a:endParaRPr lang="en-US" sz="1500"/>
          </a:p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Image provenance and model metadata retained</a:t>
            </a:r>
            <a:endParaRPr lang="en-US" sz="1500"/>
          </a:p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Weed images are transient; only validated metadata can persist</a:t>
            </a:r>
            <a:endParaRPr lang="en-US" sz="1500"/>
          </a:p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• Local AP / Quick Tunnel pairing is optional</a:t>
            </a:r>
            <a:endParaRPr lang="en-US" sz="1500"/>
          </a:p>
        </p:txBody>
      </p:sp>
      <p:sp>
        <p:nvSpPr>
          <p:cNvPr id="173" name="shape173"/>
          <p:cNvSpPr/>
          <p:nvPr/>
        </p:nvSpPr>
        <p:spPr>
          <a:xfrm>
            <a:off x="7800000" y="5050000"/>
            <a:ext cx="3300000" cy="34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74" name="text174"/>
          <p:cNvSpPr/>
          <p:nvPr/>
        </p:nvSpPr>
        <p:spPr>
          <a:xfrm>
            <a:off x="8000000" y="5145000"/>
            <a:ext cx="29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c">
              <a:defRPr sz="1100" b="1">
                <a:latin typeface="Arial"/>
                <a:solidFill>
                  <a:srgbClr val="F7F4E9"/>
                </a:solidFill>
              </a:defRPr>
            </a:pPr>
            <a:r>
              <a:rPr lang="en-US" sz="1100" b="1">
                <a:latin typeface="Arial"/>
                <a:solidFill>
                  <a:srgbClr val="F7F4E9"/>
                </a:solidFill>
              </a:rPr>
              <a:t>PI 5  ·  16 GB  ·  512 GB SSD</a:t>
            </a:r>
            <a:endParaRPr lang="en-US" sz="1100" b="1"/>
          </a:p>
        </p:txBody>
      </p:sp>
      <p:sp>
        <p:nvSpPr>
          <p:cNvPr id="175" name="shape175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76" name="text176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77" name="text177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03</a:t>
            </a:r>
            <a:endParaRPr lang="en-US" sz="900"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03  ·  PROTOTYPE PROOF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95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A working Pi loop, captured at 800 × 480</a:t>
            </a:r>
            <a:endParaRPr lang="en-US" sz="3100" b="1"/>
          </a:p>
        </p:txBody>
      </p:sp>
      <p:sp>
        <p:nvSpPr>
          <p:cNvPr id="150" name="text150"/>
          <p:cNvSpPr/>
          <p:nvPr/>
        </p:nvSpPr>
        <p:spPr>
          <a:xfrm>
            <a:off x="600000" y="1380000"/>
            <a:ext cx="105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500">
                <a:latin typeface="Arial"/>
                <a:solidFill>
                  <a:srgbClr val="5F5E59"/>
                </a:solidFill>
              </a:defRPr>
            </a:pPr>
            <a:r>
              <a:rPr lang="en-US" sz="1500">
                <a:latin typeface="Arial"/>
                <a:solidFill>
                  <a:srgbClr val="5F5E59"/>
                </a:solidFill>
              </a:rPr>
              <a:t>Saved campus image → local crop quality → Pi classifier response → library + map save. The beta weed cue stays visibly separate.</a:t>
            </a:r>
            <a:endParaRPr lang="en-US" sz="1500"/>
          </a:p>
        </p:txBody>
      </p:sp>
      <p:sp>
        <p:nvSpPr>
          <p:cNvPr id="151" name="shape151"/>
          <p:cNvSpPr/>
          <p:nvPr/>
        </p:nvSpPr>
        <p:spPr>
          <a:xfrm>
            <a:off x="570000" y="1970000"/>
            <a:ext cx="3610000" cy="28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2" name="03-pi-scan-saved-image-loaded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00000" y="2310000"/>
            <a:ext cx="3550000" cy="2130000"/>
          </a:xfrm>
          <a:prstGeom prst="rect">
            <a:avLst/>
          </a:prstGeom>
        </p:spPr>
      </p:pic>
      <p:sp>
        <p:nvSpPr>
          <p:cNvPr id="153" name="shape153"/>
          <p:cNvSpPr/>
          <p:nvPr/>
        </p:nvSpPr>
        <p:spPr>
          <a:xfrm>
            <a:off x="4320000" y="1970000"/>
            <a:ext cx="3610000" cy="28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4" name="04-pi-scan-identified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4350000" y="2310000"/>
            <a:ext cx="3550000" cy="2130000"/>
          </a:xfrm>
          <a:prstGeom prst="rect">
            <a:avLst/>
          </a:prstGeom>
        </p:spPr>
      </p:pic>
      <p:sp>
        <p:nvSpPr>
          <p:cNvPr id="155" name="shape155"/>
          <p:cNvSpPr/>
          <p:nvPr/>
        </p:nvSpPr>
        <p:spPr>
          <a:xfrm>
            <a:off x="8070000" y="1970000"/>
            <a:ext cx="3510000" cy="2810000"/>
          </a:xfrm>
          <a:prstGeom prst="rect">
            <a:avLst/>
          </a:prstGeom>
          <a:solidFill>
            <a:srgbClr val="272724"/>
          </a:solidFill>
          <a:ln w="900">
            <a:solidFill>
              <a:srgbClr val="272724"/>
            </a:solidFill>
          </a:ln>
        </p:spPr>
      </p:sp>
      <p:pic>
        <p:nvPicPr>
          <p:cNvPr id="256" name="11-pi-weed-detected-maize-field.png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8100000" y="2340000"/>
            <a:ext cx="3450000" cy="2070000"/>
          </a:xfrm>
          <a:prstGeom prst="rect">
            <a:avLst/>
          </a:prstGeom>
        </p:spPr>
      </p:pic>
      <p:sp>
        <p:nvSpPr>
          <p:cNvPr id="157" name="text157"/>
          <p:cNvSpPr/>
          <p:nvPr/>
        </p:nvSpPr>
        <p:spPr>
          <a:xfrm>
            <a:off x="720000" y="4900000"/>
            <a:ext cx="33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c">
              <a:defRPr sz="1100" b="1">
                <a:latin typeface="Arial"/>
                <a:solidFill>
                  <a:srgbClr val="486B51"/>
                </a:solidFill>
              </a:defRPr>
            </a:pPr>
            <a:r>
              <a:rPr lang="en-US" sz="1100" b="1">
                <a:latin typeface="Arial"/>
                <a:solidFill>
                  <a:srgbClr val="486B51"/>
                </a:solidFill>
              </a:rPr>
              <a:t>01  ·  LOAD SAVED IMAGE</a:t>
            </a:r>
            <a:endParaRPr lang="en-US" sz="1100" b="1"/>
          </a:p>
        </p:txBody>
      </p:sp>
      <p:sp>
        <p:nvSpPr>
          <p:cNvPr id="158" name="text158"/>
          <p:cNvSpPr/>
          <p:nvPr/>
        </p:nvSpPr>
        <p:spPr>
          <a:xfrm>
            <a:off x="4470000" y="4900000"/>
            <a:ext cx="33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c">
              <a:defRPr sz="1100" b="1">
                <a:latin typeface="Arial"/>
                <a:solidFill>
                  <a:srgbClr val="486B51"/>
                </a:solidFill>
              </a:defRPr>
            </a:pPr>
            <a:r>
              <a:rPr lang="en-US" sz="1100" b="1">
                <a:latin typeface="Arial"/>
                <a:solidFill>
                  <a:srgbClr val="486B51"/>
                </a:solidFill>
              </a:rPr>
              <a:t>02  ·  IDENTIFY + SAVE</a:t>
            </a:r>
            <a:endParaRPr lang="en-US" sz="1100" b="1"/>
          </a:p>
        </p:txBody>
      </p:sp>
      <p:sp>
        <p:nvSpPr>
          <p:cNvPr id="159" name="text159"/>
          <p:cNvSpPr/>
          <p:nvPr/>
        </p:nvSpPr>
        <p:spPr>
          <a:xfrm>
            <a:off x="8200000" y="4900000"/>
            <a:ext cx="32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c">
              <a:defRPr sz="1100" b="1">
                <a:latin typeface="Arial"/>
                <a:solidFill>
                  <a:srgbClr val="8A692E"/>
                </a:solidFill>
              </a:defRPr>
            </a:pPr>
            <a:r>
              <a:rPr lang="en-US" sz="1100" b="1">
                <a:latin typeface="Arial"/>
                <a:solidFill>
                  <a:srgbClr val="8A692E"/>
                </a:solidFill>
              </a:rPr>
              <a:t>03  ·  MAIZE / WEED CUE</a:t>
            </a:r>
            <a:endParaRPr lang="en-US" sz="1100" b="1"/>
          </a:p>
        </p:txBody>
      </p:sp>
      <p:sp>
        <p:nvSpPr>
          <p:cNvPr id="160" name="shape160"/>
          <p:cNvSpPr/>
          <p:nvPr/>
        </p:nvSpPr>
        <p:spPr>
          <a:xfrm>
            <a:off x="600000" y="5420000"/>
            <a:ext cx="10950000" cy="6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486B51"/>
            </a:solidFill>
          </a:ln>
        </p:spPr>
      </p:sp>
      <p:sp>
        <p:nvSpPr>
          <p:cNvPr id="161" name="text161"/>
          <p:cNvSpPr/>
          <p:nvPr/>
        </p:nvSpPr>
        <p:spPr>
          <a:xfrm>
            <a:off x="900000" y="5590000"/>
            <a:ext cx="1035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c">
              <a:defRPr sz="1400" b="1">
                <a:latin typeface="Arial"/>
                <a:solidFill>
                  <a:srgbClr val="486B51"/>
                </a:solidFill>
              </a:defRPr>
            </a:pPr>
            <a:r>
              <a:rPr lang="en-US" sz="1400" b="1">
                <a:latin typeface="Arial"/>
                <a:solidFill>
                  <a:srgbClr val="486B51"/>
                </a:solidFill>
              </a:rPr>
              <a:t>DEMO VIDEO  ·  25.9 s slow Pi walkthrough  ·  botanika-pi-demo-slow.mp4</a:t>
            </a:r>
            <a:endParaRPr lang="en-US" sz="1400" b="1"/>
          </a:p>
        </p:txBody>
      </p:sp>
      <p:sp>
        <p:nvSpPr>
          <p:cNvPr id="162" name="text162"/>
          <p:cNvSpPr/>
          <p:nvPr/>
        </p:nvSpPr>
        <p:spPr>
          <a:xfrm>
            <a:off x="600000" y="6160000"/>
            <a:ext cx="109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c">
              <a:defRPr sz="1100">
                <a:latin typeface="Arial"/>
                <a:solidFill>
                  <a:srgbClr val="85827B"/>
                </a:solidFill>
              </a:defRPr>
            </a:pPr>
            <a:r>
              <a:rPr lang="en-US" sz="1100">
                <a:latin typeface="Arial"/>
                <a:solidFill>
                  <a:srgbClr val="85827B"/>
                </a:solidFill>
              </a:rPr>
              <a:t>The saved record is marked synthetic: R-block east planting bed, VIT Vellore · 12.96930, 79.15650.</a:t>
            </a:r>
            <a:endParaRPr lang="en-US" sz="1100"/>
          </a:p>
        </p:txBody>
      </p:sp>
      <p:sp>
        <p:nvSpPr>
          <p:cNvPr id="163" name="shape163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4" name="text164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5" name="text165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04</a:t>
            </a:r>
            <a:endParaRPr lang="en-US" sz="9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04  ·  IMPACT + USER VALIDATION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9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Conservation value needs local evidence</a:t>
            </a:r>
            <a:endParaRPr lang="en-US" sz="3100" b="1"/>
          </a:p>
        </p:txBody>
      </p:sp>
      <p:sp>
        <p:nvSpPr>
          <p:cNvPr id="150" name="shape150"/>
          <p:cNvSpPr/>
          <p:nvPr/>
        </p:nvSpPr>
        <p:spPr>
          <a:xfrm>
            <a:off x="600000" y="1700000"/>
            <a:ext cx="5200000" cy="41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272724"/>
            </a:solidFill>
          </a:ln>
        </p:spPr>
      </p:sp>
      <p:sp>
        <p:nvSpPr>
          <p:cNvPr id="151" name="text151"/>
          <p:cNvSpPr/>
          <p:nvPr/>
        </p:nvSpPr>
        <p:spPr>
          <a:xfrm>
            <a:off x="900000" y="2020000"/>
            <a:ext cx="39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WHAT THE SYSTEM ENABLES</a:t>
            </a:r>
            <a:endParaRPr lang="en-US" sz="1000" b="1"/>
          </a:p>
        </p:txBody>
      </p:sp>
      <p:sp>
        <p:nvSpPr>
          <p:cNvPr id="152" name="text152"/>
          <p:cNvSpPr/>
          <p:nvPr/>
        </p:nvSpPr>
        <p:spPr>
          <a:xfrm>
            <a:off x="900000" y="2430000"/>
            <a:ext cx="4400000" cy="2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Make native flora legible to non-specialists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Pair every sighting with ecology, family, and conservation context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Grow a species-grouped campus discovery library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Keep uncertain answers honest and actionable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Support offline field work where connectivity is weak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• Create a future evidence base for restoration and stewardship</a:t>
            </a:r>
            <a:endParaRPr lang="en-US" sz="1600"/>
          </a:p>
        </p:txBody>
      </p:sp>
      <p:sp>
        <p:nvSpPr>
          <p:cNvPr id="153" name="shape153"/>
          <p:cNvSpPr/>
          <p:nvPr/>
        </p:nvSpPr>
        <p:spPr>
          <a:xfrm>
            <a:off x="900000" y="5050000"/>
            <a:ext cx="4450000" cy="44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AAA79E"/>
            </a:solidFill>
          </a:ln>
        </p:spPr>
      </p:sp>
      <p:sp>
        <p:nvSpPr>
          <p:cNvPr id="154" name="text154"/>
          <p:cNvSpPr/>
          <p:nvPr/>
        </p:nvSpPr>
        <p:spPr>
          <a:xfrm>
            <a:off x="1100000" y="5170000"/>
            <a:ext cx="40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 b="1">
                <a:latin typeface="Arial"/>
                <a:solidFill>
                  <a:srgbClr val="486B51"/>
                </a:solidFill>
              </a:defRPr>
            </a:pPr>
            <a:r>
              <a:rPr lang="en-US" sz="1100" b="1">
                <a:latin typeface="Arial"/>
                <a:solidFill>
                  <a:srgbClr val="486B51"/>
                </a:solidFill>
              </a:rPr>
              <a:t>Alignment: NGCPR  ·  native species  ·  public outreach</a:t>
            </a:r>
            <a:endParaRPr lang="en-US" sz="1100" b="1"/>
          </a:p>
        </p:txBody>
      </p:sp>
      <p:sp>
        <p:nvSpPr>
          <p:cNvPr id="155" name="shape155"/>
          <p:cNvSpPr/>
          <p:nvPr/>
        </p:nvSpPr>
        <p:spPr>
          <a:xfrm>
            <a:off x="6250000" y="1700000"/>
            <a:ext cx="5250000" cy="4150000"/>
          </a:xfrm>
          <a:prstGeom prst="roundRect">
            <a:avLst/>
          </a:prstGeom>
          <a:solidFill>
            <a:srgbClr val="E2DFD5"/>
          </a:solidFill>
          <a:ln w="900">
            <a:solidFill>
              <a:srgbClr val="8A692E"/>
            </a:solidFill>
          </a:ln>
        </p:spPr>
      </p:sp>
      <p:sp>
        <p:nvSpPr>
          <p:cNvPr id="156" name="text156"/>
          <p:cNvSpPr/>
          <p:nvPr/>
        </p:nvSpPr>
        <p:spPr>
          <a:xfrm>
            <a:off x="6550000" y="2020000"/>
            <a:ext cx="42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8A692E"/>
                </a:solidFill>
              </a:defRPr>
            </a:pPr>
            <a:r>
              <a:rPr lang="en-US" sz="1000" b="1">
                <a:latin typeface="Arial"/>
                <a:solidFill>
                  <a:srgbClr val="8A692E"/>
                </a:solidFill>
              </a:rPr>
              <a:t>ILLUSTRATIVE UX READOUT</a:t>
            </a:r>
            <a:endParaRPr lang="en-US" sz="1000" b="1"/>
          </a:p>
        </p:txBody>
      </p:sp>
      <p:sp>
        <p:nvSpPr>
          <p:cNvPr id="157" name="text157"/>
          <p:cNvSpPr/>
          <p:nvPr/>
        </p:nvSpPr>
        <p:spPr>
          <a:xfrm>
            <a:off x="6550000" y="2360000"/>
            <a:ext cx="45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2200" b="1">
                <a:latin typeface="Georgia"/>
                <a:solidFill>
                  <a:srgbClr val="272724"/>
                </a:solidFill>
              </a:defRPr>
            </a:pPr>
            <a:r>
              <a:rPr lang="en-US" sz="2200" b="1">
                <a:latin typeface="Georgia"/>
                <a:solidFill>
                  <a:srgbClr val="272724"/>
                </a:solidFill>
              </a:rPr>
              <a:t>Mixed opinions to validate with 5 real users</a:t>
            </a:r>
            <a:endParaRPr lang="en-US" sz="2200" b="1"/>
          </a:p>
        </p:txBody>
      </p:sp>
      <p:sp>
        <p:nvSpPr>
          <p:cNvPr id="158" name="text158"/>
          <p:cNvSpPr/>
          <p:nvPr/>
        </p:nvSpPr>
        <p:spPr>
          <a:xfrm>
            <a:off x="6550000" y="2930000"/>
            <a:ext cx="445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>LIKED  ·  The single Scan → crop → save loop is easy to explain.</a:t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/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>MIXED  ·  The manual crop slider helps control the result, but is unfamiliar on first use.</a:t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/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>CONCERN  ·  Camera permission and “why local?” need a clearer first-run cue.</a:t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/>
            </a:r>
            <a:endParaRPr lang="en-US" sz="1400"/>
          </a:p>
          <a:p>
            <a:pPr algn="l">
              <a:defRPr sz="1400">
                <a:latin typeface="Arial"/>
                <a:solidFill>
                  <a:srgbClr val="5F5E59"/>
                </a:solidFill>
              </a:defRPr>
            </a:pPr>
            <a:r>
              <a:rPr lang="en-US" sz="1400">
                <a:latin typeface="Arial"/>
                <a:solidFill>
                  <a:srgbClr val="5F5E59"/>
                </a:solidFill>
              </a:rPr>
              <a:t>RESPONSE  ·  Stream reattachment, saved-image fallback, visible quality checks, and local-first copy.</a:t>
            </a:r>
            <a:endParaRPr lang="en-US" sz="1400"/>
          </a:p>
        </p:txBody>
      </p:sp>
      <p:sp>
        <p:nvSpPr>
          <p:cNvPr id="159" name="text159"/>
          <p:cNvSpPr/>
          <p:nvPr/>
        </p:nvSpPr>
        <p:spPr>
          <a:xfrm>
            <a:off x="6550000" y="5080000"/>
            <a:ext cx="445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 b="1">
                <a:latin typeface="Arial"/>
                <a:solidFill>
                  <a:srgbClr val="8B3028"/>
                </a:solidFill>
              </a:defRPr>
            </a:pPr>
            <a:r>
              <a:rPr lang="en-US" sz="1100" b="1">
                <a:latin typeface="Arial"/>
                <a:solidFill>
                  <a:srgbClr val="8B3028"/>
                </a:solidFill>
              </a:rPr>
              <a:t>STATUS  ·  Real five-person study still required before submission.</a:t>
            </a:r>
            <a:endParaRPr lang="en-US" sz="1100" b="1"/>
          </a:p>
        </p:txBody>
      </p:sp>
      <p:sp>
        <p:nvSpPr>
          <p:cNvPr id="160" name="shape160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1" name="text161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2" name="text162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05</a:t>
            </a:r>
            <a:endParaRPr lang="en-US" sz="9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tanika 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10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DE3"/>
          </a:solidFill>
          <a:ln>
            <a:noFill/>
          </a:ln>
        </p:spPr>
      </p:sp>
      <p:sp>
        <p:nvSpPr>
          <p:cNvPr id="101" name="shape101"/>
          <p:cNvSpPr/>
          <p:nvPr/>
        </p:nvSpPr>
        <p:spPr>
          <a:xfrm>
            <a:off x="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2" name="shape102"/>
          <p:cNvSpPr/>
          <p:nvPr/>
        </p:nvSpPr>
        <p:spPr>
          <a:xfrm>
            <a:off x="4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3" name="shape103"/>
          <p:cNvSpPr/>
          <p:nvPr/>
        </p:nvSpPr>
        <p:spPr>
          <a:xfrm>
            <a:off x="8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4" name="shape104"/>
          <p:cNvSpPr/>
          <p:nvPr/>
        </p:nvSpPr>
        <p:spPr>
          <a:xfrm>
            <a:off x="12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5" name="shape105"/>
          <p:cNvSpPr/>
          <p:nvPr/>
        </p:nvSpPr>
        <p:spPr>
          <a:xfrm>
            <a:off x="16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6" name="shape106"/>
          <p:cNvSpPr/>
          <p:nvPr/>
        </p:nvSpPr>
        <p:spPr>
          <a:xfrm>
            <a:off x="21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7" name="shape107"/>
          <p:cNvSpPr/>
          <p:nvPr/>
        </p:nvSpPr>
        <p:spPr>
          <a:xfrm>
            <a:off x="25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8" name="shape108"/>
          <p:cNvSpPr/>
          <p:nvPr/>
        </p:nvSpPr>
        <p:spPr>
          <a:xfrm>
            <a:off x="29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09" name="shape109"/>
          <p:cNvSpPr/>
          <p:nvPr/>
        </p:nvSpPr>
        <p:spPr>
          <a:xfrm>
            <a:off x="33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0" name="shape110"/>
          <p:cNvSpPr/>
          <p:nvPr/>
        </p:nvSpPr>
        <p:spPr>
          <a:xfrm>
            <a:off x="37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1" name="shape111"/>
          <p:cNvSpPr/>
          <p:nvPr/>
        </p:nvSpPr>
        <p:spPr>
          <a:xfrm>
            <a:off x="42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2" name="shape112"/>
          <p:cNvSpPr/>
          <p:nvPr/>
        </p:nvSpPr>
        <p:spPr>
          <a:xfrm>
            <a:off x="46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3" name="shape113"/>
          <p:cNvSpPr/>
          <p:nvPr/>
        </p:nvSpPr>
        <p:spPr>
          <a:xfrm>
            <a:off x="50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4" name="shape114"/>
          <p:cNvSpPr/>
          <p:nvPr/>
        </p:nvSpPr>
        <p:spPr>
          <a:xfrm>
            <a:off x="54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5" name="shape115"/>
          <p:cNvSpPr/>
          <p:nvPr/>
        </p:nvSpPr>
        <p:spPr>
          <a:xfrm>
            <a:off x="58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6" name="shape116"/>
          <p:cNvSpPr/>
          <p:nvPr/>
        </p:nvSpPr>
        <p:spPr>
          <a:xfrm>
            <a:off x="63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7" name="shape117"/>
          <p:cNvSpPr/>
          <p:nvPr/>
        </p:nvSpPr>
        <p:spPr>
          <a:xfrm>
            <a:off x="67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8" name="shape118"/>
          <p:cNvSpPr/>
          <p:nvPr/>
        </p:nvSpPr>
        <p:spPr>
          <a:xfrm>
            <a:off x="71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19" name="shape119"/>
          <p:cNvSpPr/>
          <p:nvPr/>
        </p:nvSpPr>
        <p:spPr>
          <a:xfrm>
            <a:off x="75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0" name="shape120"/>
          <p:cNvSpPr/>
          <p:nvPr/>
        </p:nvSpPr>
        <p:spPr>
          <a:xfrm>
            <a:off x="79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1" name="shape121"/>
          <p:cNvSpPr/>
          <p:nvPr/>
        </p:nvSpPr>
        <p:spPr>
          <a:xfrm>
            <a:off x="84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2" name="shape122"/>
          <p:cNvSpPr/>
          <p:nvPr/>
        </p:nvSpPr>
        <p:spPr>
          <a:xfrm>
            <a:off x="88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3" name="shape123"/>
          <p:cNvSpPr/>
          <p:nvPr/>
        </p:nvSpPr>
        <p:spPr>
          <a:xfrm>
            <a:off x="92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4" name="shape124"/>
          <p:cNvSpPr/>
          <p:nvPr/>
        </p:nvSpPr>
        <p:spPr>
          <a:xfrm>
            <a:off x="96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5" name="shape125"/>
          <p:cNvSpPr/>
          <p:nvPr/>
        </p:nvSpPr>
        <p:spPr>
          <a:xfrm>
            <a:off x="100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6" name="shape126"/>
          <p:cNvSpPr/>
          <p:nvPr/>
        </p:nvSpPr>
        <p:spPr>
          <a:xfrm>
            <a:off x="1050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7" name="shape127"/>
          <p:cNvSpPr/>
          <p:nvPr/>
        </p:nvSpPr>
        <p:spPr>
          <a:xfrm>
            <a:off x="1092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8" name="shape128"/>
          <p:cNvSpPr/>
          <p:nvPr/>
        </p:nvSpPr>
        <p:spPr>
          <a:xfrm>
            <a:off x="1134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29" name="shape129"/>
          <p:cNvSpPr/>
          <p:nvPr/>
        </p:nvSpPr>
        <p:spPr>
          <a:xfrm>
            <a:off x="1176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0" name="shape130"/>
          <p:cNvSpPr/>
          <p:nvPr/>
        </p:nvSpPr>
        <p:spPr>
          <a:xfrm>
            <a:off x="12180000" y="0"/>
            <a:ext cx="2000" cy="6858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1" name="shape131"/>
          <p:cNvSpPr/>
          <p:nvPr/>
        </p:nvSpPr>
        <p:spPr>
          <a:xfrm>
            <a:off x="0" y="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2" name="shape132"/>
          <p:cNvSpPr/>
          <p:nvPr/>
        </p:nvSpPr>
        <p:spPr>
          <a:xfrm>
            <a:off x="0" y="4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3" name="shape133"/>
          <p:cNvSpPr/>
          <p:nvPr/>
        </p:nvSpPr>
        <p:spPr>
          <a:xfrm>
            <a:off x="0" y="8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4" name="shape134"/>
          <p:cNvSpPr/>
          <p:nvPr/>
        </p:nvSpPr>
        <p:spPr>
          <a:xfrm>
            <a:off x="0" y="12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5" name="shape135"/>
          <p:cNvSpPr/>
          <p:nvPr/>
        </p:nvSpPr>
        <p:spPr>
          <a:xfrm>
            <a:off x="0" y="16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6" name="shape136"/>
          <p:cNvSpPr/>
          <p:nvPr/>
        </p:nvSpPr>
        <p:spPr>
          <a:xfrm>
            <a:off x="0" y="21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7" name="shape137"/>
          <p:cNvSpPr/>
          <p:nvPr/>
        </p:nvSpPr>
        <p:spPr>
          <a:xfrm>
            <a:off x="0" y="25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8" name="shape138"/>
          <p:cNvSpPr/>
          <p:nvPr/>
        </p:nvSpPr>
        <p:spPr>
          <a:xfrm>
            <a:off x="0" y="29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39" name="shape139"/>
          <p:cNvSpPr/>
          <p:nvPr/>
        </p:nvSpPr>
        <p:spPr>
          <a:xfrm>
            <a:off x="0" y="33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0" name="shape140"/>
          <p:cNvSpPr/>
          <p:nvPr/>
        </p:nvSpPr>
        <p:spPr>
          <a:xfrm>
            <a:off x="0" y="37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1" name="shape141"/>
          <p:cNvSpPr/>
          <p:nvPr/>
        </p:nvSpPr>
        <p:spPr>
          <a:xfrm>
            <a:off x="0" y="42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2" name="shape142"/>
          <p:cNvSpPr/>
          <p:nvPr/>
        </p:nvSpPr>
        <p:spPr>
          <a:xfrm>
            <a:off x="0" y="46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3" name="shape143"/>
          <p:cNvSpPr/>
          <p:nvPr/>
        </p:nvSpPr>
        <p:spPr>
          <a:xfrm>
            <a:off x="0" y="504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4" name="shape144"/>
          <p:cNvSpPr/>
          <p:nvPr/>
        </p:nvSpPr>
        <p:spPr>
          <a:xfrm>
            <a:off x="0" y="546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5" name="shape145"/>
          <p:cNvSpPr/>
          <p:nvPr/>
        </p:nvSpPr>
        <p:spPr>
          <a:xfrm>
            <a:off x="0" y="588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6" name="shape146"/>
          <p:cNvSpPr/>
          <p:nvPr/>
        </p:nvSpPr>
        <p:spPr>
          <a:xfrm>
            <a:off x="0" y="630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7" name="shape147"/>
          <p:cNvSpPr/>
          <p:nvPr/>
        </p:nvSpPr>
        <p:spPr>
          <a:xfrm>
            <a:off x="0" y="6720000"/>
            <a:ext cx="12192000" cy="2000"/>
          </a:xfrm>
          <a:prstGeom prst="rect">
            <a:avLst/>
          </a:prstGeom>
          <a:solidFill>
            <a:srgbClr val="E2DFD5"/>
          </a:solidFill>
          <a:ln>
            <a:noFill/>
          </a:ln>
        </p:spPr>
      </p:sp>
      <p:sp>
        <p:nvSpPr>
          <p:cNvPr id="148" name="text148"/>
          <p:cNvSpPr/>
          <p:nvPr/>
        </p:nvSpPr>
        <p:spPr>
          <a:xfrm>
            <a:off x="600000" y="480000"/>
            <a:ext cx="4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000" b="1">
                <a:latin typeface="Arial"/>
                <a:solidFill>
                  <a:srgbClr val="486B51"/>
                </a:solidFill>
              </a:defRPr>
            </a:pPr>
            <a:r>
              <a:rPr lang="en-US" sz="1000" b="1">
                <a:latin typeface="Arial"/>
                <a:solidFill>
                  <a:srgbClr val="486B51"/>
                </a:solidFill>
              </a:rPr>
              <a:t>05  ·  ROADMAP + SCALE</a:t>
            </a:r>
            <a:endParaRPr lang="en-US" sz="1000" b="1"/>
          </a:p>
        </p:txBody>
      </p:sp>
      <p:sp>
        <p:nvSpPr>
          <p:cNvPr id="149" name="text149"/>
          <p:cNvSpPr/>
          <p:nvPr/>
        </p:nvSpPr>
        <p:spPr>
          <a:xfrm>
            <a:off x="600000" y="780000"/>
            <a:ext cx="95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3100" b="1">
                <a:latin typeface="Georgia"/>
                <a:solidFill>
                  <a:srgbClr val="272724"/>
                </a:solidFill>
              </a:defRPr>
            </a:pPr>
            <a:r>
              <a:rPr lang="en-US" sz="3100" b="1">
                <a:latin typeface="Georgia"/>
                <a:solidFill>
                  <a:srgbClr val="272724"/>
                </a:solidFill>
              </a:rPr>
              <a:t>Start on one campus. Scale the field intelligence layer.</a:t>
            </a:r>
            <a:endParaRPr lang="en-US" sz="3100" b="1"/>
          </a:p>
        </p:txBody>
      </p:sp>
      <p:sp>
        <p:nvSpPr>
          <p:cNvPr id="150" name="shape150"/>
          <p:cNvSpPr/>
          <p:nvPr/>
        </p:nvSpPr>
        <p:spPr>
          <a:xfrm>
            <a:off x="600000" y="1850000"/>
            <a:ext cx="3450000" cy="26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486B51"/>
            </a:solidFill>
          </a:ln>
        </p:spPr>
      </p:sp>
      <p:sp>
        <p:nvSpPr>
          <p:cNvPr id="151" name="text151"/>
          <p:cNvSpPr/>
          <p:nvPr/>
        </p:nvSpPr>
        <p:spPr>
          <a:xfrm>
            <a:off x="880000" y="2180000"/>
            <a:ext cx="2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486B51"/>
                </a:solidFill>
              </a:defRPr>
            </a:pPr>
            <a:r>
              <a:rPr lang="en-US" sz="1200" b="1">
                <a:latin typeface="Arial"/>
                <a:solidFill>
                  <a:srgbClr val="486B51"/>
                </a:solidFill>
              </a:rPr>
              <a:t>NOW</a:t>
            </a:r>
            <a:endParaRPr lang="en-US" sz="1200" b="1"/>
          </a:p>
        </p:txBody>
      </p:sp>
      <p:sp>
        <p:nvSpPr>
          <p:cNvPr id="152" name="text152"/>
          <p:cNvSpPr/>
          <p:nvPr/>
        </p:nvSpPr>
        <p:spPr>
          <a:xfrm>
            <a:off x="880000" y="2650000"/>
            <a:ext cx="285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Stabilise phone camera + crop flow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Complete five-user validation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Add accepted local campus images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Benchmark Pi latency and confidence</a:t>
            </a:r>
            <a:endParaRPr lang="en-US" sz="1600"/>
          </a:p>
        </p:txBody>
      </p:sp>
      <p:sp>
        <p:nvSpPr>
          <p:cNvPr id="153" name="shape153"/>
          <p:cNvSpPr/>
          <p:nvPr/>
        </p:nvSpPr>
        <p:spPr>
          <a:xfrm>
            <a:off x="4480000" y="1850000"/>
            <a:ext cx="3450000" cy="26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8A692E"/>
            </a:solidFill>
          </a:ln>
        </p:spPr>
      </p:sp>
      <p:sp>
        <p:nvSpPr>
          <p:cNvPr id="154" name="text154"/>
          <p:cNvSpPr/>
          <p:nvPr/>
        </p:nvSpPr>
        <p:spPr>
          <a:xfrm>
            <a:off x="4760000" y="2180000"/>
            <a:ext cx="2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8A692E"/>
                </a:solidFill>
              </a:defRPr>
            </a:pPr>
            <a:r>
              <a:rPr lang="en-US" sz="1200" b="1">
                <a:latin typeface="Arial"/>
                <a:solidFill>
                  <a:srgbClr val="8A692E"/>
                </a:solidFill>
              </a:rPr>
              <a:t>NEXT</a:t>
            </a:r>
            <a:endParaRPr lang="en-US" sz="1200" b="1"/>
          </a:p>
        </p:txBody>
      </p:sp>
      <p:sp>
        <p:nvSpPr>
          <p:cNvPr id="155" name="text155"/>
          <p:cNvSpPr/>
          <p:nvPr/>
        </p:nvSpPr>
        <p:spPr>
          <a:xfrm>
            <a:off x="4760000" y="2650000"/>
            <a:ext cx="285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Calibrate the seven-species catalog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Expand regional checklist and map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Add multilingual botanical guidance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Introduce richer AR-style annotations</a:t>
            </a:r>
            <a:endParaRPr lang="en-US" sz="1600"/>
          </a:p>
        </p:txBody>
      </p:sp>
      <p:sp>
        <p:nvSpPr>
          <p:cNvPr id="156" name="shape156"/>
          <p:cNvSpPr/>
          <p:nvPr/>
        </p:nvSpPr>
        <p:spPr>
          <a:xfrm>
            <a:off x="8360000" y="1850000"/>
            <a:ext cx="3450000" cy="2650000"/>
          </a:xfrm>
          <a:prstGeom prst="roundRect">
            <a:avLst/>
          </a:prstGeom>
          <a:solidFill>
            <a:srgbClr val="F7F4E9"/>
          </a:solidFill>
          <a:ln w="900">
            <a:solidFill>
              <a:srgbClr val="8B3028"/>
            </a:solidFill>
          </a:ln>
        </p:spPr>
      </p:sp>
      <p:sp>
        <p:nvSpPr>
          <p:cNvPr id="157" name="text157"/>
          <p:cNvSpPr/>
          <p:nvPr/>
        </p:nvSpPr>
        <p:spPr>
          <a:xfrm>
            <a:off x="8640000" y="2180000"/>
            <a:ext cx="28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200" b="1">
                <a:latin typeface="Arial"/>
                <a:solidFill>
                  <a:srgbClr val="8B3028"/>
                </a:solidFill>
              </a:defRPr>
            </a:pPr>
            <a:r>
              <a:rPr lang="en-US" sz="1200" b="1">
                <a:latin typeface="Arial"/>
                <a:solidFill>
                  <a:srgbClr val="8B3028"/>
                </a:solidFill>
              </a:rPr>
              <a:t>LATER</a:t>
            </a:r>
            <a:endParaRPr lang="en-US" sz="1200" b="1"/>
          </a:p>
        </p:txBody>
      </p:sp>
      <p:sp>
        <p:nvSpPr>
          <p:cNvPr id="158" name="text158"/>
          <p:cNvSpPr/>
          <p:nvPr/>
        </p:nvSpPr>
        <p:spPr>
          <a:xfrm>
            <a:off x="8640000" y="2650000"/>
            <a:ext cx="2850000" cy="1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Campus → city biodiversity network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Restoration and nursery workflows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Agriculture and sustainability scouting</a:t>
            </a:r>
            <a:endParaRPr lang="en-US" sz="1600"/>
          </a:p>
          <a:p>
            <a:pPr algn="l">
              <a:defRPr sz="1600">
                <a:latin typeface="Arial"/>
                <a:solidFill>
                  <a:srgbClr val="5F5E59"/>
                </a:solidFill>
              </a:defRPr>
            </a:pPr>
            <a:r>
              <a:rPr lang="en-US" sz="1600">
                <a:latin typeface="Arial"/>
                <a:solidFill>
                  <a:srgbClr val="5F5E59"/>
                </a:solidFill>
              </a:rPr>
              <a:t>Environmental monitoring APIs</a:t>
            </a:r>
            <a:endParaRPr lang="en-US" sz="1600"/>
          </a:p>
        </p:txBody>
      </p:sp>
      <p:sp>
        <p:nvSpPr>
          <p:cNvPr id="159" name="shape159"/>
          <p:cNvSpPr/>
          <p:nvPr/>
        </p:nvSpPr>
        <p:spPr>
          <a:xfrm>
            <a:off x="600000" y="4850000"/>
            <a:ext cx="10950000" cy="1050000"/>
          </a:xfrm>
          <a:prstGeom prst="roundRect">
            <a:avLst/>
          </a:prstGeom>
          <a:solidFill>
            <a:srgbClr val="486B51"/>
          </a:solidFill>
          <a:ln w="900">
            <a:solidFill>
              <a:srgbClr val="486B51"/>
            </a:solidFill>
          </a:ln>
        </p:spPr>
      </p:sp>
      <p:sp>
        <p:nvSpPr>
          <p:cNvPr id="160" name="text160"/>
          <p:cNvSpPr/>
          <p:nvPr/>
        </p:nvSpPr>
        <p:spPr>
          <a:xfrm>
            <a:off x="900000" y="5060000"/>
            <a:ext cx="1035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100" b="1">
                <a:latin typeface="Arial"/>
                <a:solidFill>
                  <a:srgbClr val="F7F4E9"/>
                </a:solidFill>
              </a:defRPr>
            </a:pPr>
            <a:r>
              <a:rPr lang="en-US" sz="1100" b="1">
                <a:latin typeface="Arial"/>
                <a:solidFill>
                  <a:srgbClr val="F7F4E9"/>
                </a:solidFill>
              </a:rPr>
              <a:t>WHY IT CAN SCALE</a:t>
            </a:r>
            <a:endParaRPr lang="en-US" sz="1100" b="1"/>
          </a:p>
        </p:txBody>
      </p:sp>
      <p:sp>
        <p:nvSpPr>
          <p:cNvPr id="161" name="text161"/>
          <p:cNvSpPr/>
          <p:nvPr/>
        </p:nvSpPr>
        <p:spPr>
          <a:xfrm>
            <a:off x="2550000" y="5040000"/>
            <a:ext cx="845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1800" b="1">
                <a:latin typeface="Arial"/>
                <a:solidFill>
                  <a:srgbClr val="F7F4E9"/>
                </a:solidFill>
              </a:defRPr>
            </a:pPr>
            <a:r>
              <a:rPr lang="en-US" sz="1800" b="1">
                <a:latin typeface="Arial"/>
                <a:solidFill>
                  <a:srgbClr val="F7F4E9"/>
                </a:solidFill>
              </a:rPr>
              <a:t>One local backend contract  ·  pluggable catalogs  ·  privacy-preserving crop uploads  ·  structured provenance</a:t>
            </a:r>
            <a:endParaRPr lang="en-US" sz="1800" b="1"/>
          </a:p>
        </p:txBody>
      </p:sp>
      <p:sp>
        <p:nvSpPr>
          <p:cNvPr id="162" name="text162"/>
          <p:cNvSpPr/>
          <p:nvPr/>
        </p:nvSpPr>
        <p:spPr>
          <a:xfrm>
            <a:off x="600000" y="6120000"/>
            <a:ext cx="108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c">
              <a:defRPr sz="1100" b="1">
                <a:latin typeface="Arial"/>
                <a:solidFill>
                  <a:srgbClr val="272724"/>
                </a:solidFill>
              </a:defRPr>
            </a:pPr>
            <a:r>
              <a:rPr lang="en-US" sz="1100" b="1">
                <a:latin typeface="Arial"/>
                <a:solidFill>
                  <a:srgbClr val="272724"/>
                </a:solidFill>
              </a:rPr>
              <a:t>Judging fit  ·  Innovation 15%  ·  Technical execution 20%  ·  AI + AR 20%  ·  UX + validation 10%  ·  NGCPR alignment 20%  ·  Presentation 15%</a:t>
            </a:r>
            <a:endParaRPr lang="en-US" sz="1100" b="1"/>
          </a:p>
        </p:txBody>
      </p:sp>
      <p:sp>
        <p:nvSpPr>
          <p:cNvPr id="163" name="shape163"/>
          <p:cNvSpPr/>
          <p:nvPr/>
        </p:nvSpPr>
        <p:spPr>
          <a:xfrm>
            <a:off x="500000" y="6500000"/>
            <a:ext cx="11200000" cy="2000"/>
          </a:xfrm>
          <a:prstGeom prst="rect">
            <a:avLst/>
          </a:prstGeom>
          <a:solidFill>
            <a:srgbClr val="AAA79E"/>
          </a:solidFill>
          <a:ln>
            <a:noFill/>
          </a:ln>
        </p:spPr>
      </p:sp>
      <p:sp>
        <p:nvSpPr>
          <p:cNvPr id="164" name="text164"/>
          <p:cNvSpPr/>
          <p:nvPr/>
        </p:nvSpPr>
        <p:spPr>
          <a:xfrm>
            <a:off x="500000" y="6550000"/>
            <a:ext cx="9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l">
              <a:defRPr sz="800" b="1">
                <a:latin typeface="Arial"/>
                <a:solidFill>
                  <a:srgbClr val="85827B"/>
                </a:solidFill>
              </a:defRPr>
            </a:pPr>
            <a:r>
              <a:rPr lang="en-US" sz="800" b="1">
                <a:latin typeface="Arial"/>
                <a:solidFill>
                  <a:srgbClr val="85827B"/>
                </a:solidFill>
              </a:rPr>
              <a:t>BOTANIKA  ·  GEG XR HACKATHON 2026  ·  LOCAL-FIRST FIELD INTELLIGENCE</a:t>
            </a:r>
            <a:endParaRPr lang="en-US" sz="800" b="1"/>
          </a:p>
        </p:txBody>
      </p:sp>
      <p:sp>
        <p:nvSpPr>
          <p:cNvPr id="165" name="text165"/>
          <p:cNvSpPr/>
          <p:nvPr/>
        </p:nvSpPr>
        <p:spPr>
          <a:xfrm>
            <a:off x="11250000" y="6550000"/>
            <a:ext cx="45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100" tIns="100" rIns="100" bIns="100"/>
          <a:lstStyle/>
          <a:p>
            <a:pPr algn="r">
              <a:defRPr sz="900" b="1">
                <a:latin typeface="Arial"/>
                <a:solidFill>
                  <a:srgbClr val="486B51"/>
                </a:solidFill>
              </a:defRPr>
            </a:pPr>
            <a:r>
              <a:rPr lang="en-US" sz="900" b="1">
                <a:latin typeface="Arial"/>
                <a:solidFill>
                  <a:srgbClr val="486B51"/>
                </a:solidFill>
              </a:rPr>
              <a:t>06</a:t>
            </a:r>
            <a:endParaRPr lang="en-US" sz="9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otanika">
  <a:themeElements>
    <a:clrScheme name="Botanika">
      <a:dk1>
        <a:srgbClr val="272724"/>
      </a:dk1>
      <a:lt1>
        <a:srgbClr val="EFEDE3"/>
      </a:lt1>
      <a:dk2>
        <a:srgbClr val="5F5E59"/>
      </a:dk2>
      <a:lt2>
        <a:srgbClr val="F7F4E9"/>
      </a:lt2>
      <a:accent1>
        <a:srgbClr val="486B51"/>
      </a:accent1>
      <a:accent2>
        <a:srgbClr val="8A692E"/>
      </a:accent2>
      <a:accent3>
        <a:srgbClr val="8B3028"/>
      </a:accent3>
      <a:accent4>
        <a:srgbClr val="E2DFD5"/>
      </a:accent4>
      <a:accent5>
        <a:srgbClr val="AAA79E"/>
      </a:accent5>
      <a:accent6>
        <a:srgbClr val="85827B"/>
      </a:accent6>
      <a:hlink>
        <a:srgbClr val="486B51"/>
      </a:hlink>
      <a:folHlink>
        <a:srgbClr val="8B3028"/>
      </a:folHlink>
    </a:clrScheme>
    <a:fontScheme name="Botanika">
      <a:majorFont>
        <a:latin typeface="Georgia"/>
      </a:majorFont>
      <a:minorFont>
        <a:latin typeface="Arial"/>
      </a:minorFont>
    </a:fontScheme>
    <a:fmtScheme name="Botanika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Botanika presentation generator</Application>
  <PresentationFormat>Widescreen</PresentationFormat>
  <Slides>6</Slides>
</Properties>
</file>

<file path=docProps/core.xml><?xml version="1.0" encoding="utf-8"?>
<cp:coreProperties xmlns:cp="http://schemas.openxmlformats.org/package/2006/metadata/core-properties" xmlns:dc="http://purl.org/dc/elements/1.1/">
  <dc:title>Botanika — Field Intelligence for India’s Native Flora</dc:title>
  <dc:subject>GEG XR Hackathon 2026</dc:subject>
  <dc:creator>Team Botanika</dc:creator>
</cp:coreProperties>
</file>