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  <p:defaultTextStyle>
    <a:defPPr/>
    <a:lvl1pPr marL="0" algn="l">
      <a:defRPr sz="1800"/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3.png"/><Relationship Id="rId3" Type="http://schemas.openxmlformats.org/officeDocument/2006/relationships/image" Target="../media/image-1-4.jpe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3.jpe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3.jpeg"/><Relationship Id="rId3" Type="http://schemas.openxmlformats.org/officeDocument/2006/relationships/image" Target="../media/image-4-4.jpeg"/><Relationship Id="rId4" Type="http://schemas.openxmlformats.org/officeDocument/2006/relationships/image" Target="../media/image-4-5.jpeg"/><Relationship Id="rId5" Type="http://schemas.openxmlformats.org/officeDocument/2006/relationships/image" Target="../media/image-4-6.jpe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tanik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3"/>
          </a:solidFill>
          <a:ln>
            <a:noFill/>
          </a:ln>
        </p:spPr>
      </p:sp>
      <p:sp>
        <p:nvSpPr>
          <p:cNvPr id="101" name="shape101"/>
          <p:cNvSpPr/>
          <p:nvPr/>
        </p:nvSpPr>
        <p:spPr>
          <a:xfrm>
            <a:off x="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2" name="shape102"/>
          <p:cNvSpPr/>
          <p:nvPr/>
        </p:nvSpPr>
        <p:spPr>
          <a:xfrm>
            <a:off x="4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3" name="shape103"/>
          <p:cNvSpPr/>
          <p:nvPr/>
        </p:nvSpPr>
        <p:spPr>
          <a:xfrm>
            <a:off x="8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4" name="shape104"/>
          <p:cNvSpPr/>
          <p:nvPr/>
        </p:nvSpPr>
        <p:spPr>
          <a:xfrm>
            <a:off x="12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5" name="shape105"/>
          <p:cNvSpPr/>
          <p:nvPr/>
        </p:nvSpPr>
        <p:spPr>
          <a:xfrm>
            <a:off x="16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6" name="shape106"/>
          <p:cNvSpPr/>
          <p:nvPr/>
        </p:nvSpPr>
        <p:spPr>
          <a:xfrm>
            <a:off x="21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7" name="shape107"/>
          <p:cNvSpPr/>
          <p:nvPr/>
        </p:nvSpPr>
        <p:spPr>
          <a:xfrm>
            <a:off x="25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8" name="shape108"/>
          <p:cNvSpPr/>
          <p:nvPr/>
        </p:nvSpPr>
        <p:spPr>
          <a:xfrm>
            <a:off x="29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9" name="shape109"/>
          <p:cNvSpPr/>
          <p:nvPr/>
        </p:nvSpPr>
        <p:spPr>
          <a:xfrm>
            <a:off x="33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0" name="shape110"/>
          <p:cNvSpPr/>
          <p:nvPr/>
        </p:nvSpPr>
        <p:spPr>
          <a:xfrm>
            <a:off x="37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1" name="shape111"/>
          <p:cNvSpPr/>
          <p:nvPr/>
        </p:nvSpPr>
        <p:spPr>
          <a:xfrm>
            <a:off x="42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2" name="shape112"/>
          <p:cNvSpPr/>
          <p:nvPr/>
        </p:nvSpPr>
        <p:spPr>
          <a:xfrm>
            <a:off x="46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3" name="shape113"/>
          <p:cNvSpPr/>
          <p:nvPr/>
        </p:nvSpPr>
        <p:spPr>
          <a:xfrm>
            <a:off x="50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4" name="shape114"/>
          <p:cNvSpPr/>
          <p:nvPr/>
        </p:nvSpPr>
        <p:spPr>
          <a:xfrm>
            <a:off x="54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5" name="shape115"/>
          <p:cNvSpPr/>
          <p:nvPr/>
        </p:nvSpPr>
        <p:spPr>
          <a:xfrm>
            <a:off x="58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6" name="shape116"/>
          <p:cNvSpPr/>
          <p:nvPr/>
        </p:nvSpPr>
        <p:spPr>
          <a:xfrm>
            <a:off x="63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7" name="shape117"/>
          <p:cNvSpPr/>
          <p:nvPr/>
        </p:nvSpPr>
        <p:spPr>
          <a:xfrm>
            <a:off x="67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8" name="shape118"/>
          <p:cNvSpPr/>
          <p:nvPr/>
        </p:nvSpPr>
        <p:spPr>
          <a:xfrm>
            <a:off x="71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9" name="shape119"/>
          <p:cNvSpPr/>
          <p:nvPr/>
        </p:nvSpPr>
        <p:spPr>
          <a:xfrm>
            <a:off x="75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0" name="shape120"/>
          <p:cNvSpPr/>
          <p:nvPr/>
        </p:nvSpPr>
        <p:spPr>
          <a:xfrm>
            <a:off x="79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1" name="shape121"/>
          <p:cNvSpPr/>
          <p:nvPr/>
        </p:nvSpPr>
        <p:spPr>
          <a:xfrm>
            <a:off x="84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2" name="shape122"/>
          <p:cNvSpPr/>
          <p:nvPr/>
        </p:nvSpPr>
        <p:spPr>
          <a:xfrm>
            <a:off x="88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3" name="shape123"/>
          <p:cNvSpPr/>
          <p:nvPr/>
        </p:nvSpPr>
        <p:spPr>
          <a:xfrm>
            <a:off x="92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4" name="shape124"/>
          <p:cNvSpPr/>
          <p:nvPr/>
        </p:nvSpPr>
        <p:spPr>
          <a:xfrm>
            <a:off x="96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5" name="shape125"/>
          <p:cNvSpPr/>
          <p:nvPr/>
        </p:nvSpPr>
        <p:spPr>
          <a:xfrm>
            <a:off x="100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6" name="shape126"/>
          <p:cNvSpPr/>
          <p:nvPr/>
        </p:nvSpPr>
        <p:spPr>
          <a:xfrm>
            <a:off x="105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7" name="shape127"/>
          <p:cNvSpPr/>
          <p:nvPr/>
        </p:nvSpPr>
        <p:spPr>
          <a:xfrm>
            <a:off x="109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8" name="shape128"/>
          <p:cNvSpPr/>
          <p:nvPr/>
        </p:nvSpPr>
        <p:spPr>
          <a:xfrm>
            <a:off x="113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9" name="shape129"/>
          <p:cNvSpPr/>
          <p:nvPr/>
        </p:nvSpPr>
        <p:spPr>
          <a:xfrm>
            <a:off x="117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0" name="shape130"/>
          <p:cNvSpPr/>
          <p:nvPr/>
        </p:nvSpPr>
        <p:spPr>
          <a:xfrm>
            <a:off x="121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1" name="shape131"/>
          <p:cNvSpPr/>
          <p:nvPr/>
        </p:nvSpPr>
        <p:spPr>
          <a:xfrm>
            <a:off x="0" y="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2" name="shape132"/>
          <p:cNvSpPr/>
          <p:nvPr/>
        </p:nvSpPr>
        <p:spPr>
          <a:xfrm>
            <a:off x="0" y="4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3" name="shape133"/>
          <p:cNvSpPr/>
          <p:nvPr/>
        </p:nvSpPr>
        <p:spPr>
          <a:xfrm>
            <a:off x="0" y="8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4" name="shape134"/>
          <p:cNvSpPr/>
          <p:nvPr/>
        </p:nvSpPr>
        <p:spPr>
          <a:xfrm>
            <a:off x="0" y="12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5" name="shape135"/>
          <p:cNvSpPr/>
          <p:nvPr/>
        </p:nvSpPr>
        <p:spPr>
          <a:xfrm>
            <a:off x="0" y="16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6" name="shape136"/>
          <p:cNvSpPr/>
          <p:nvPr/>
        </p:nvSpPr>
        <p:spPr>
          <a:xfrm>
            <a:off x="0" y="21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7" name="shape137"/>
          <p:cNvSpPr/>
          <p:nvPr/>
        </p:nvSpPr>
        <p:spPr>
          <a:xfrm>
            <a:off x="0" y="25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8" name="shape138"/>
          <p:cNvSpPr/>
          <p:nvPr/>
        </p:nvSpPr>
        <p:spPr>
          <a:xfrm>
            <a:off x="0" y="29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9" name="shape139"/>
          <p:cNvSpPr/>
          <p:nvPr/>
        </p:nvSpPr>
        <p:spPr>
          <a:xfrm>
            <a:off x="0" y="33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0" name="shape140"/>
          <p:cNvSpPr/>
          <p:nvPr/>
        </p:nvSpPr>
        <p:spPr>
          <a:xfrm>
            <a:off x="0" y="37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1" name="shape141"/>
          <p:cNvSpPr/>
          <p:nvPr/>
        </p:nvSpPr>
        <p:spPr>
          <a:xfrm>
            <a:off x="0" y="42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2" name="shape142"/>
          <p:cNvSpPr/>
          <p:nvPr/>
        </p:nvSpPr>
        <p:spPr>
          <a:xfrm>
            <a:off x="0" y="46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3" name="shape143"/>
          <p:cNvSpPr/>
          <p:nvPr/>
        </p:nvSpPr>
        <p:spPr>
          <a:xfrm>
            <a:off x="0" y="50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4" name="shape144"/>
          <p:cNvSpPr/>
          <p:nvPr/>
        </p:nvSpPr>
        <p:spPr>
          <a:xfrm>
            <a:off x="0" y="54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5" name="shape145"/>
          <p:cNvSpPr/>
          <p:nvPr/>
        </p:nvSpPr>
        <p:spPr>
          <a:xfrm>
            <a:off x="0" y="58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6" name="shape146"/>
          <p:cNvSpPr/>
          <p:nvPr/>
        </p:nvSpPr>
        <p:spPr>
          <a:xfrm>
            <a:off x="0" y="63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7" name="shape147"/>
          <p:cNvSpPr/>
          <p:nvPr/>
        </p:nvSpPr>
        <p:spPr>
          <a:xfrm>
            <a:off x="0" y="67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8" name="shape148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486B51"/>
          </a:solidFill>
          <a:ln>
            <a:noFill/>
          </a:ln>
        </p:spPr>
      </p:sp>
      <p:sp>
        <p:nvSpPr>
          <p:cNvPr id="149" name="shape149"/>
          <p:cNvSpPr/>
          <p:nvPr/>
        </p:nvSpPr>
        <p:spPr>
          <a:xfrm>
            <a:off x="700000" y="780000"/>
            <a:ext cx="6050000" cy="485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272724"/>
            </a:solidFill>
          </a:ln>
        </p:spPr>
      </p:sp>
      <p:sp>
        <p:nvSpPr>
          <p:cNvPr id="150" name="text150"/>
          <p:cNvSpPr/>
          <p:nvPr/>
        </p:nvSpPr>
        <p:spPr>
          <a:xfrm>
            <a:off x="1000000" y="1050000"/>
            <a:ext cx="4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PI-POWERED FIELD INTELLIGENCE</a:t>
            </a:r>
            <a:endParaRPr lang="en-US" sz="1000" b="1"/>
          </a:p>
        </p:txBody>
      </p:sp>
      <p:sp>
        <p:nvSpPr>
          <p:cNvPr id="151" name="text151"/>
          <p:cNvSpPr/>
          <p:nvPr/>
        </p:nvSpPr>
        <p:spPr>
          <a:xfrm>
            <a:off x="960000" y="1430000"/>
            <a:ext cx="53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5400" b="1">
                <a:latin typeface="Georgia"/>
                <a:solidFill>
                  <a:srgbClr val="272724"/>
                </a:solidFill>
              </a:defRPr>
            </a:pPr>
            <a:r>
              <a:rPr lang="en-US" sz="5400" b="1">
                <a:latin typeface="Georgia"/>
                <a:solidFill>
                  <a:srgbClr val="272724"/>
                </a:solidFill>
              </a:rPr>
              <a:t>Botanika</a:t>
            </a:r>
            <a:endParaRPr lang="en-US" sz="5400" b="1"/>
          </a:p>
        </p:txBody>
      </p:sp>
      <p:sp>
        <p:nvSpPr>
          <p:cNvPr id="152" name="text152"/>
          <p:cNvSpPr/>
          <p:nvPr/>
        </p:nvSpPr>
        <p:spPr>
          <a:xfrm>
            <a:off x="990000" y="2390000"/>
            <a:ext cx="5150000" cy="10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2800" b="1">
                <a:latin typeface="Georgia"/>
                <a:solidFill>
                  <a:srgbClr val="486B51"/>
                </a:solidFill>
              </a:defRPr>
            </a:pPr>
            <a:r>
              <a:rPr lang="en-US" sz="2800" b="1">
                <a:latin typeface="Georgia"/>
                <a:solidFill>
                  <a:srgbClr val="486B51"/>
                </a:solidFill>
              </a:rPr>
              <a:t>Raspberry Pi intelligence.</a:t>
            </a:r>
            <a:endParaRPr lang="en-US" sz="2800" b="1"/>
          </a:p>
          <a:p>
            <a:pPr algn="l">
              <a:defRPr sz="2800" b="1">
                <a:latin typeface="Georgia"/>
                <a:solidFill>
                  <a:srgbClr val="486B51"/>
                </a:solidFill>
              </a:defRPr>
            </a:pPr>
            <a:r>
              <a:rPr lang="en-US" sz="2800" b="1">
                <a:latin typeface="Georgia"/>
                <a:solidFill>
                  <a:srgbClr val="486B51"/>
                </a:solidFill>
              </a:rPr>
              <a:t>Any phone as the field interface.</a:t>
            </a:r>
            <a:endParaRPr lang="en-US" sz="2800" b="1"/>
          </a:p>
        </p:txBody>
      </p:sp>
      <p:sp>
        <p:nvSpPr>
          <p:cNvPr id="153" name="text153"/>
          <p:cNvSpPr/>
          <p:nvPr/>
        </p:nvSpPr>
        <p:spPr>
          <a:xfrm>
            <a:off x="1000000" y="3620000"/>
            <a:ext cx="5200000" cy="8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The phone supplies a browser and camera. The Pi supplies the models, botanical knowledge, storage, and decisions—over an optional secure remote link or an offline private Wi-Fi fallback.</a:t>
            </a:r>
            <a:endParaRPr lang="en-US" sz="1600"/>
          </a:p>
        </p:txBody>
      </p:sp>
      <p:sp>
        <p:nvSpPr>
          <p:cNvPr id="154" name="shape154"/>
          <p:cNvSpPr/>
          <p:nvPr/>
        </p:nvSpPr>
        <p:spPr>
          <a:xfrm>
            <a:off x="1000000" y="4760000"/>
            <a:ext cx="5100000" cy="500000"/>
          </a:xfrm>
          <a:prstGeom prst="roundRect">
            <a:avLst/>
          </a:prstGeom>
          <a:solidFill>
            <a:srgbClr val="486B51"/>
          </a:solidFill>
          <a:ln w="900">
            <a:solidFill>
              <a:srgbClr val="486B51"/>
            </a:solidFill>
          </a:ln>
        </p:spPr>
      </p:sp>
      <p:sp>
        <p:nvSpPr>
          <p:cNvPr id="155" name="text155"/>
          <p:cNvSpPr/>
          <p:nvPr/>
        </p:nvSpPr>
        <p:spPr>
          <a:xfrm>
            <a:off x="1180000" y="4900000"/>
            <a:ext cx="475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1000" b="1">
                <a:latin typeface="Arial"/>
                <a:solidFill>
                  <a:srgbClr val="F7F4E9"/>
                </a:solidFill>
              </a:defRPr>
            </a:pPr>
            <a:r>
              <a:rPr lang="en-US" sz="1000" b="1">
                <a:latin typeface="Arial"/>
                <a:solidFill>
                  <a:srgbClr val="F7F4E9"/>
                </a:solidFill>
              </a:rPr>
              <a:t>NO APP INSTALL  ·  NO MODEL ON THE PHONE  ·  CROP-ONLY PLANT UPLOAD</a:t>
            </a:r>
            <a:endParaRPr lang="en-US" sz="1000" b="1"/>
          </a:p>
        </p:txBody>
      </p:sp>
      <p:sp>
        <p:nvSpPr>
          <p:cNvPr id="156" name="shape156"/>
          <p:cNvSpPr/>
          <p:nvPr/>
        </p:nvSpPr>
        <p:spPr>
          <a:xfrm>
            <a:off x="7180000" y="780000"/>
            <a:ext cx="4300000" cy="4850000"/>
          </a:xfrm>
          <a:prstGeom prst="roundRect">
            <a:avLst/>
          </a:prstGeom>
          <a:solidFill>
            <a:srgbClr val="E2DFD5"/>
          </a:solidFill>
          <a:ln w="900">
            <a:solidFill>
              <a:srgbClr val="272724"/>
            </a:solidFill>
          </a:ln>
        </p:spPr>
      </p:sp>
      <p:sp>
        <p:nvSpPr>
          <p:cNvPr id="157" name="text157"/>
          <p:cNvSpPr/>
          <p:nvPr/>
        </p:nvSpPr>
        <p:spPr>
          <a:xfrm>
            <a:off x="7520000" y="1050000"/>
            <a:ext cx="35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ONE SYSTEM · TWO SURFACES</a:t>
            </a:r>
            <a:endParaRPr lang="en-US" sz="1000" b="1"/>
          </a:p>
        </p:txBody>
      </p:sp>
      <p:sp>
        <p:nvSpPr>
          <p:cNvPr id="158" name="shape158"/>
          <p:cNvSpPr/>
          <p:nvPr/>
        </p:nvSpPr>
        <p:spPr>
          <a:xfrm>
            <a:off x="7490000" y="1490000"/>
            <a:ext cx="3610000" cy="1910000"/>
          </a:xfrm>
          <a:prstGeom prst="rect">
            <a:avLst/>
          </a:prstGeom>
          <a:solidFill>
            <a:srgbClr val="272724"/>
          </a:solidFill>
          <a:ln w="900">
            <a:solidFill>
              <a:srgbClr val="272724"/>
            </a:solidFill>
          </a:ln>
        </p:spPr>
      </p:sp>
      <p:pic>
        <p:nvPicPr>
          <p:cNvPr id="259" name="01-pi-home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753333" y="1520000"/>
            <a:ext cx="3083333" cy="1850000"/>
          </a:xfrm>
          <a:prstGeom prst="rect">
            <a:avLst/>
          </a:prstGeom>
        </p:spPr>
      </p:pic>
      <p:sp>
        <p:nvSpPr>
          <p:cNvPr id="160" name="text160"/>
          <p:cNvSpPr/>
          <p:nvPr/>
        </p:nvSpPr>
        <p:spPr>
          <a:xfrm>
            <a:off x="7520000" y="3460000"/>
            <a:ext cx="35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PI KIOSK  ·  AUTHORITATIVE CONSOLE</a:t>
            </a:r>
            <a:endParaRPr lang="en-US" sz="1000" b="1"/>
          </a:p>
        </p:txBody>
      </p:sp>
      <p:sp>
        <p:nvSpPr>
          <p:cNvPr id="161" name="shape161"/>
          <p:cNvSpPr/>
          <p:nvPr/>
        </p:nvSpPr>
        <p:spPr>
          <a:xfrm>
            <a:off x="8340000" y="3820000"/>
            <a:ext cx="1910000" cy="1410000"/>
          </a:xfrm>
          <a:prstGeom prst="rect">
            <a:avLst/>
          </a:prstGeom>
          <a:solidFill>
            <a:srgbClr val="272724"/>
          </a:solidFill>
          <a:ln w="900">
            <a:solidFill>
              <a:srgbClr val="272724"/>
            </a:solidFill>
          </a:ln>
        </p:spPr>
      </p:sp>
      <p:pic>
        <p:nvPicPr>
          <p:cNvPr id="262" name="WhatsApp Image 2026-09-06 at 7.12.34 PM (1).jpe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991250" y="3850000"/>
            <a:ext cx="607500" cy="1350000"/>
          </a:xfrm>
          <a:prstGeom prst="rect">
            <a:avLst/>
          </a:prstGeom>
        </p:spPr>
      </p:pic>
      <p:sp>
        <p:nvSpPr>
          <p:cNvPr id="163" name="text163"/>
          <p:cNvSpPr/>
          <p:nvPr/>
        </p:nvSpPr>
        <p:spPr>
          <a:xfrm>
            <a:off x="7520000" y="5250000"/>
            <a:ext cx="35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1000" b="1">
                <a:latin typeface="Arial"/>
                <a:solidFill>
                  <a:srgbClr val="8A692E"/>
                </a:solidFill>
              </a:defRPr>
            </a:pPr>
            <a:r>
              <a:rPr lang="en-US" sz="1000" b="1">
                <a:latin typeface="Arial"/>
                <a:solidFill>
                  <a:srgbClr val="8A692E"/>
                </a:solidFill>
              </a:rPr>
              <a:t>LIVE PHONE  ·  RESPONSIVE CONTROLLER</a:t>
            </a:r>
            <a:endParaRPr lang="en-US" sz="1000" b="1"/>
          </a:p>
        </p:txBody>
      </p:sp>
      <p:sp>
        <p:nvSpPr>
          <p:cNvPr id="164" name="text164"/>
          <p:cNvSpPr/>
          <p:nvPr/>
        </p:nvSpPr>
        <p:spPr>
          <a:xfrm>
            <a:off x="1000000" y="5850000"/>
            <a:ext cx="51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TEAM BOTANIKA  ·  ABHINAV KISORE</a:t>
            </a:r>
            <a:endParaRPr lang="en-US" sz="1000" b="1"/>
          </a:p>
        </p:txBody>
      </p:sp>
      <p:sp>
        <p:nvSpPr>
          <p:cNvPr id="165" name="shape165"/>
          <p:cNvSpPr/>
          <p:nvPr/>
        </p:nvSpPr>
        <p:spPr>
          <a:xfrm>
            <a:off x="500000" y="6500000"/>
            <a:ext cx="11200000" cy="2000"/>
          </a:xfrm>
          <a:prstGeom prst="rect">
            <a:avLst/>
          </a:prstGeom>
          <a:solidFill>
            <a:srgbClr val="AAA79E"/>
          </a:solidFill>
          <a:ln>
            <a:noFill/>
          </a:ln>
        </p:spPr>
      </p:sp>
      <p:sp>
        <p:nvSpPr>
          <p:cNvPr id="166" name="text166"/>
          <p:cNvSpPr/>
          <p:nvPr/>
        </p:nvSpPr>
        <p:spPr>
          <a:xfrm>
            <a:off x="500000" y="6550000"/>
            <a:ext cx="95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800" b="1">
                <a:latin typeface="Arial"/>
                <a:solidFill>
                  <a:srgbClr val="85827B"/>
                </a:solidFill>
              </a:defRPr>
            </a:pPr>
            <a:r>
              <a:rPr lang="en-US" sz="800" b="1">
                <a:latin typeface="Arial"/>
                <a:solidFill>
                  <a:srgbClr val="85827B"/>
                </a:solidFill>
              </a:rPr>
              <a:t>BOTANIKA  ·  GEG XR HACKATHON 2026  ·  LOCAL-FIRST FIELD INTELLIGENCE</a:t>
            </a:r>
            <a:endParaRPr lang="en-US" sz="800" b="1"/>
          </a:p>
        </p:txBody>
      </p:sp>
      <p:sp>
        <p:nvSpPr>
          <p:cNvPr id="167" name="text167"/>
          <p:cNvSpPr/>
          <p:nvPr/>
        </p:nvSpPr>
        <p:spPr>
          <a:xfrm>
            <a:off x="11250000" y="6550000"/>
            <a:ext cx="4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r">
              <a:defRPr sz="900" b="1">
                <a:latin typeface="Arial"/>
                <a:solidFill>
                  <a:srgbClr val="486B51"/>
                </a:solidFill>
              </a:defRPr>
            </a:pPr>
            <a:r>
              <a:rPr lang="en-US" sz="900" b="1">
                <a:latin typeface="Arial"/>
                <a:solidFill>
                  <a:srgbClr val="486B51"/>
                </a:solidFill>
              </a:rPr>
              <a:t>01</a:t>
            </a:r>
            <a:endParaRPr lang="en-US" sz="9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tanika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3"/>
          </a:solidFill>
          <a:ln>
            <a:noFill/>
          </a:ln>
        </p:spPr>
      </p:sp>
      <p:sp>
        <p:nvSpPr>
          <p:cNvPr id="101" name="shape101"/>
          <p:cNvSpPr/>
          <p:nvPr/>
        </p:nvSpPr>
        <p:spPr>
          <a:xfrm>
            <a:off x="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2" name="shape102"/>
          <p:cNvSpPr/>
          <p:nvPr/>
        </p:nvSpPr>
        <p:spPr>
          <a:xfrm>
            <a:off x="4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3" name="shape103"/>
          <p:cNvSpPr/>
          <p:nvPr/>
        </p:nvSpPr>
        <p:spPr>
          <a:xfrm>
            <a:off x="8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4" name="shape104"/>
          <p:cNvSpPr/>
          <p:nvPr/>
        </p:nvSpPr>
        <p:spPr>
          <a:xfrm>
            <a:off x="12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5" name="shape105"/>
          <p:cNvSpPr/>
          <p:nvPr/>
        </p:nvSpPr>
        <p:spPr>
          <a:xfrm>
            <a:off x="16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6" name="shape106"/>
          <p:cNvSpPr/>
          <p:nvPr/>
        </p:nvSpPr>
        <p:spPr>
          <a:xfrm>
            <a:off x="21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7" name="shape107"/>
          <p:cNvSpPr/>
          <p:nvPr/>
        </p:nvSpPr>
        <p:spPr>
          <a:xfrm>
            <a:off x="25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8" name="shape108"/>
          <p:cNvSpPr/>
          <p:nvPr/>
        </p:nvSpPr>
        <p:spPr>
          <a:xfrm>
            <a:off x="29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9" name="shape109"/>
          <p:cNvSpPr/>
          <p:nvPr/>
        </p:nvSpPr>
        <p:spPr>
          <a:xfrm>
            <a:off x="33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0" name="shape110"/>
          <p:cNvSpPr/>
          <p:nvPr/>
        </p:nvSpPr>
        <p:spPr>
          <a:xfrm>
            <a:off x="37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1" name="shape111"/>
          <p:cNvSpPr/>
          <p:nvPr/>
        </p:nvSpPr>
        <p:spPr>
          <a:xfrm>
            <a:off x="42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2" name="shape112"/>
          <p:cNvSpPr/>
          <p:nvPr/>
        </p:nvSpPr>
        <p:spPr>
          <a:xfrm>
            <a:off x="46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3" name="shape113"/>
          <p:cNvSpPr/>
          <p:nvPr/>
        </p:nvSpPr>
        <p:spPr>
          <a:xfrm>
            <a:off x="50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4" name="shape114"/>
          <p:cNvSpPr/>
          <p:nvPr/>
        </p:nvSpPr>
        <p:spPr>
          <a:xfrm>
            <a:off x="54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5" name="shape115"/>
          <p:cNvSpPr/>
          <p:nvPr/>
        </p:nvSpPr>
        <p:spPr>
          <a:xfrm>
            <a:off x="58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6" name="shape116"/>
          <p:cNvSpPr/>
          <p:nvPr/>
        </p:nvSpPr>
        <p:spPr>
          <a:xfrm>
            <a:off x="63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7" name="shape117"/>
          <p:cNvSpPr/>
          <p:nvPr/>
        </p:nvSpPr>
        <p:spPr>
          <a:xfrm>
            <a:off x="67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8" name="shape118"/>
          <p:cNvSpPr/>
          <p:nvPr/>
        </p:nvSpPr>
        <p:spPr>
          <a:xfrm>
            <a:off x="71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9" name="shape119"/>
          <p:cNvSpPr/>
          <p:nvPr/>
        </p:nvSpPr>
        <p:spPr>
          <a:xfrm>
            <a:off x="75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0" name="shape120"/>
          <p:cNvSpPr/>
          <p:nvPr/>
        </p:nvSpPr>
        <p:spPr>
          <a:xfrm>
            <a:off x="79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1" name="shape121"/>
          <p:cNvSpPr/>
          <p:nvPr/>
        </p:nvSpPr>
        <p:spPr>
          <a:xfrm>
            <a:off x="84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2" name="shape122"/>
          <p:cNvSpPr/>
          <p:nvPr/>
        </p:nvSpPr>
        <p:spPr>
          <a:xfrm>
            <a:off x="88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3" name="shape123"/>
          <p:cNvSpPr/>
          <p:nvPr/>
        </p:nvSpPr>
        <p:spPr>
          <a:xfrm>
            <a:off x="92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4" name="shape124"/>
          <p:cNvSpPr/>
          <p:nvPr/>
        </p:nvSpPr>
        <p:spPr>
          <a:xfrm>
            <a:off x="96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5" name="shape125"/>
          <p:cNvSpPr/>
          <p:nvPr/>
        </p:nvSpPr>
        <p:spPr>
          <a:xfrm>
            <a:off x="100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6" name="shape126"/>
          <p:cNvSpPr/>
          <p:nvPr/>
        </p:nvSpPr>
        <p:spPr>
          <a:xfrm>
            <a:off x="105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7" name="shape127"/>
          <p:cNvSpPr/>
          <p:nvPr/>
        </p:nvSpPr>
        <p:spPr>
          <a:xfrm>
            <a:off x="109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8" name="shape128"/>
          <p:cNvSpPr/>
          <p:nvPr/>
        </p:nvSpPr>
        <p:spPr>
          <a:xfrm>
            <a:off x="113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9" name="shape129"/>
          <p:cNvSpPr/>
          <p:nvPr/>
        </p:nvSpPr>
        <p:spPr>
          <a:xfrm>
            <a:off x="117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0" name="shape130"/>
          <p:cNvSpPr/>
          <p:nvPr/>
        </p:nvSpPr>
        <p:spPr>
          <a:xfrm>
            <a:off x="121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1" name="shape131"/>
          <p:cNvSpPr/>
          <p:nvPr/>
        </p:nvSpPr>
        <p:spPr>
          <a:xfrm>
            <a:off x="0" y="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2" name="shape132"/>
          <p:cNvSpPr/>
          <p:nvPr/>
        </p:nvSpPr>
        <p:spPr>
          <a:xfrm>
            <a:off x="0" y="4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3" name="shape133"/>
          <p:cNvSpPr/>
          <p:nvPr/>
        </p:nvSpPr>
        <p:spPr>
          <a:xfrm>
            <a:off x="0" y="8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4" name="shape134"/>
          <p:cNvSpPr/>
          <p:nvPr/>
        </p:nvSpPr>
        <p:spPr>
          <a:xfrm>
            <a:off x="0" y="12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5" name="shape135"/>
          <p:cNvSpPr/>
          <p:nvPr/>
        </p:nvSpPr>
        <p:spPr>
          <a:xfrm>
            <a:off x="0" y="16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6" name="shape136"/>
          <p:cNvSpPr/>
          <p:nvPr/>
        </p:nvSpPr>
        <p:spPr>
          <a:xfrm>
            <a:off x="0" y="21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7" name="shape137"/>
          <p:cNvSpPr/>
          <p:nvPr/>
        </p:nvSpPr>
        <p:spPr>
          <a:xfrm>
            <a:off x="0" y="25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8" name="shape138"/>
          <p:cNvSpPr/>
          <p:nvPr/>
        </p:nvSpPr>
        <p:spPr>
          <a:xfrm>
            <a:off x="0" y="29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9" name="shape139"/>
          <p:cNvSpPr/>
          <p:nvPr/>
        </p:nvSpPr>
        <p:spPr>
          <a:xfrm>
            <a:off x="0" y="33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0" name="shape140"/>
          <p:cNvSpPr/>
          <p:nvPr/>
        </p:nvSpPr>
        <p:spPr>
          <a:xfrm>
            <a:off x="0" y="37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1" name="shape141"/>
          <p:cNvSpPr/>
          <p:nvPr/>
        </p:nvSpPr>
        <p:spPr>
          <a:xfrm>
            <a:off x="0" y="42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2" name="shape142"/>
          <p:cNvSpPr/>
          <p:nvPr/>
        </p:nvSpPr>
        <p:spPr>
          <a:xfrm>
            <a:off x="0" y="46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3" name="shape143"/>
          <p:cNvSpPr/>
          <p:nvPr/>
        </p:nvSpPr>
        <p:spPr>
          <a:xfrm>
            <a:off x="0" y="50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4" name="shape144"/>
          <p:cNvSpPr/>
          <p:nvPr/>
        </p:nvSpPr>
        <p:spPr>
          <a:xfrm>
            <a:off x="0" y="54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5" name="shape145"/>
          <p:cNvSpPr/>
          <p:nvPr/>
        </p:nvSpPr>
        <p:spPr>
          <a:xfrm>
            <a:off x="0" y="58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6" name="shape146"/>
          <p:cNvSpPr/>
          <p:nvPr/>
        </p:nvSpPr>
        <p:spPr>
          <a:xfrm>
            <a:off x="0" y="63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7" name="shape147"/>
          <p:cNvSpPr/>
          <p:nvPr/>
        </p:nvSpPr>
        <p:spPr>
          <a:xfrm>
            <a:off x="0" y="67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8" name="text148"/>
          <p:cNvSpPr/>
          <p:nvPr/>
        </p:nvSpPr>
        <p:spPr>
          <a:xfrm>
            <a:off x="600000" y="480000"/>
            <a:ext cx="4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01  ·  ACTUAL REMOTE WORKFLOW</a:t>
            </a:r>
            <a:endParaRPr lang="en-US" sz="1000" b="1"/>
          </a:p>
        </p:txBody>
      </p:sp>
      <p:sp>
        <p:nvSpPr>
          <p:cNvPr id="149" name="text149"/>
          <p:cNvSpPr/>
          <p:nvPr/>
        </p:nvSpPr>
        <p:spPr>
          <a:xfrm>
            <a:off x="600000" y="780000"/>
            <a:ext cx="94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3100" b="1">
                <a:latin typeface="Georgia"/>
                <a:solidFill>
                  <a:srgbClr val="272724"/>
                </a:solidFill>
              </a:defRPr>
            </a:pPr>
            <a:r>
              <a:rPr lang="en-US" sz="3100" b="1">
                <a:latin typeface="Georgia"/>
                <a:solidFill>
                  <a:srgbClr val="272724"/>
                </a:solidFill>
              </a:rPr>
              <a:t>Pair once. Send only what the Pi needs.</a:t>
            </a:r>
            <a:endParaRPr lang="en-US" sz="3100" b="1"/>
          </a:p>
        </p:txBody>
      </p:sp>
      <p:sp>
        <p:nvSpPr>
          <p:cNvPr id="150" name="text150"/>
          <p:cNvSpPr/>
          <p:nvPr/>
        </p:nvSpPr>
        <p:spPr>
          <a:xfrm>
            <a:off x="600000" y="1340000"/>
            <a:ext cx="103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500">
                <a:latin typeface="Arial"/>
                <a:solidFill>
                  <a:srgbClr val="5F5E59"/>
                </a:solidFill>
              </a:defRPr>
            </a:pPr>
            <a:r>
              <a:rPr lang="en-US" sz="1500">
                <a:latin typeface="Arial"/>
                <a:solidFill>
                  <a:srgbClr val="5F5E59"/>
                </a:solidFill>
              </a:rPr>
              <a:t>The remote path is a browser-to-Pi handoff—not a mobile AI app and not remote desktop control.</a:t>
            </a:r>
            <a:endParaRPr lang="en-US" sz="1500"/>
          </a:p>
        </p:txBody>
      </p:sp>
      <p:sp>
        <p:nvSpPr>
          <p:cNvPr id="151" name="shape151"/>
          <p:cNvSpPr/>
          <p:nvPr/>
        </p:nvSpPr>
        <p:spPr>
          <a:xfrm>
            <a:off x="620000" y="1870000"/>
            <a:ext cx="2260000" cy="3810000"/>
          </a:xfrm>
          <a:prstGeom prst="rect">
            <a:avLst/>
          </a:prstGeom>
          <a:solidFill>
            <a:srgbClr val="272724"/>
          </a:solidFill>
          <a:ln w="900">
            <a:solidFill>
              <a:srgbClr val="272724"/>
            </a:solidFill>
          </a:ln>
        </p:spPr>
      </p:sp>
      <p:pic>
        <p:nvPicPr>
          <p:cNvPr id="252" name="WhatsApp Image 2026-09-06 at 7.12.34 PM.jpe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906250" y="1900000"/>
            <a:ext cx="1687500" cy="3750000"/>
          </a:xfrm>
          <a:prstGeom prst="rect">
            <a:avLst/>
          </a:prstGeom>
        </p:spPr>
      </p:pic>
      <p:sp>
        <p:nvSpPr>
          <p:cNvPr id="153" name="text153"/>
          <p:cNvSpPr/>
          <p:nvPr/>
        </p:nvSpPr>
        <p:spPr>
          <a:xfrm>
            <a:off x="650000" y="5760000"/>
            <a:ext cx="22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LIVE PAIRING SCREEN</a:t>
            </a:r>
            <a:endParaRPr lang="en-US" sz="1000" b="1"/>
          </a:p>
        </p:txBody>
      </p:sp>
      <p:sp>
        <p:nvSpPr>
          <p:cNvPr id="154" name="shape154"/>
          <p:cNvSpPr/>
          <p:nvPr/>
        </p:nvSpPr>
        <p:spPr>
          <a:xfrm>
            <a:off x="3250000" y="1900000"/>
            <a:ext cx="8250000" cy="62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AAA79E"/>
            </a:solidFill>
          </a:ln>
        </p:spPr>
      </p:sp>
      <p:sp>
        <p:nvSpPr>
          <p:cNvPr id="155" name="shape155"/>
          <p:cNvSpPr/>
          <p:nvPr/>
        </p:nvSpPr>
        <p:spPr>
          <a:xfrm>
            <a:off x="3250000" y="1900000"/>
            <a:ext cx="600000" cy="620000"/>
          </a:xfrm>
          <a:prstGeom prst="roundRect">
            <a:avLst/>
          </a:prstGeom>
          <a:solidFill>
            <a:srgbClr val="486B51"/>
          </a:solidFill>
          <a:ln w="900">
            <a:solidFill>
              <a:srgbClr val="486B51"/>
            </a:solidFill>
          </a:ln>
        </p:spPr>
      </p:sp>
      <p:sp>
        <p:nvSpPr>
          <p:cNvPr id="156" name="text156"/>
          <p:cNvSpPr/>
          <p:nvPr/>
        </p:nvSpPr>
        <p:spPr>
          <a:xfrm>
            <a:off x="3400000" y="2045000"/>
            <a:ext cx="3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1600" b="1">
                <a:latin typeface="Arial"/>
                <a:solidFill>
                  <a:srgbClr val="F7F4E9"/>
                </a:solidFill>
              </a:defRPr>
            </a:pPr>
            <a:r>
              <a:rPr lang="en-US" sz="1600" b="1">
                <a:latin typeface="Arial"/>
                <a:solidFill>
                  <a:srgbClr val="F7F4E9"/>
                </a:solidFill>
              </a:rPr>
              <a:t>1</a:t>
            </a:r>
            <a:endParaRPr lang="en-US" sz="1600" b="1"/>
          </a:p>
        </p:txBody>
      </p:sp>
      <p:sp>
        <p:nvSpPr>
          <p:cNvPr id="157" name="text157"/>
          <p:cNvSpPr/>
          <p:nvPr/>
        </p:nvSpPr>
        <p:spPr>
          <a:xfrm>
            <a:off x="4050000" y="1995000"/>
            <a:ext cx="17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500" b="1">
                <a:latin typeface="Georgia"/>
                <a:solidFill>
                  <a:srgbClr val="272724"/>
                </a:solidFill>
              </a:defRPr>
            </a:pPr>
            <a:r>
              <a:rPr lang="en-US" sz="1500" b="1">
                <a:latin typeface="Georgia"/>
                <a:solidFill>
                  <a:srgbClr val="272724"/>
                </a:solidFill>
              </a:rPr>
              <a:t>Pi opens access</a:t>
            </a:r>
            <a:endParaRPr lang="en-US" sz="1500" b="1"/>
          </a:p>
        </p:txBody>
      </p:sp>
      <p:sp>
        <p:nvSpPr>
          <p:cNvPr id="158" name="text158"/>
          <p:cNvSpPr/>
          <p:nvPr/>
        </p:nvSpPr>
        <p:spPr>
          <a:xfrm>
            <a:off x="5750000" y="1955000"/>
            <a:ext cx="5450000" cy="5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00" tIns="10000" rIns="10000" bIns="10000"/>
          <a:lstStyle/>
          <a:p>
            <a:pPr algn="l">
              <a:defRPr sz="1000">
                <a:latin typeface="Arial"/>
                <a:solidFill>
                  <a:srgbClr val="5F5E59"/>
                </a:solidFill>
              </a:defRPr>
            </a:pPr>
            <a:r>
              <a:rPr lang="en-US" sz="1000">
                <a:latin typeface="Arial"/>
                <a:solidFill>
                  <a:srgbClr val="5F5E59"/>
                </a:solidFill>
              </a:rPr>
              <a:t>Operator enters NETWORKED. The Pi starts a temporary HTTPS Quick Tunnel; its private Wi-Fi AP remains the offline fallback.</a:t>
            </a:r>
            <a:endParaRPr lang="en-US" sz="1000"/>
          </a:p>
        </p:txBody>
      </p:sp>
      <p:sp>
        <p:nvSpPr>
          <p:cNvPr id="159" name="shape159"/>
          <p:cNvSpPr/>
          <p:nvPr/>
        </p:nvSpPr>
        <p:spPr>
          <a:xfrm>
            <a:off x="3250000" y="2690000"/>
            <a:ext cx="8250000" cy="620000"/>
          </a:xfrm>
          <a:prstGeom prst="roundRect">
            <a:avLst/>
          </a:prstGeom>
          <a:solidFill>
            <a:srgbClr val="E2DFD5"/>
          </a:solidFill>
          <a:ln w="900">
            <a:solidFill>
              <a:srgbClr val="AAA79E"/>
            </a:solidFill>
          </a:ln>
        </p:spPr>
      </p:sp>
      <p:sp>
        <p:nvSpPr>
          <p:cNvPr id="160" name="shape160"/>
          <p:cNvSpPr/>
          <p:nvPr/>
        </p:nvSpPr>
        <p:spPr>
          <a:xfrm>
            <a:off x="3250000" y="2690000"/>
            <a:ext cx="600000" cy="620000"/>
          </a:xfrm>
          <a:prstGeom prst="roundRect">
            <a:avLst/>
          </a:prstGeom>
          <a:solidFill>
            <a:srgbClr val="486B51"/>
          </a:solidFill>
          <a:ln w="900">
            <a:solidFill>
              <a:srgbClr val="486B51"/>
            </a:solidFill>
          </a:ln>
        </p:spPr>
      </p:sp>
      <p:sp>
        <p:nvSpPr>
          <p:cNvPr id="161" name="text161"/>
          <p:cNvSpPr/>
          <p:nvPr/>
        </p:nvSpPr>
        <p:spPr>
          <a:xfrm>
            <a:off x="3400000" y="2835000"/>
            <a:ext cx="3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1600" b="1">
                <a:latin typeface="Arial"/>
                <a:solidFill>
                  <a:srgbClr val="F7F4E9"/>
                </a:solidFill>
              </a:defRPr>
            </a:pPr>
            <a:r>
              <a:rPr lang="en-US" sz="1600" b="1">
                <a:latin typeface="Arial"/>
                <a:solidFill>
                  <a:srgbClr val="F7F4E9"/>
                </a:solidFill>
              </a:rPr>
              <a:t>2</a:t>
            </a:r>
            <a:endParaRPr lang="en-US" sz="1600" b="1"/>
          </a:p>
        </p:txBody>
      </p:sp>
      <p:sp>
        <p:nvSpPr>
          <p:cNvPr id="162" name="text162"/>
          <p:cNvSpPr/>
          <p:nvPr/>
        </p:nvSpPr>
        <p:spPr>
          <a:xfrm>
            <a:off x="4050000" y="2785000"/>
            <a:ext cx="17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500" b="1">
                <a:latin typeface="Georgia"/>
                <a:solidFill>
                  <a:srgbClr val="272724"/>
                </a:solidFill>
              </a:defRPr>
            </a:pPr>
            <a:r>
              <a:rPr lang="en-US" sz="1500" b="1">
                <a:latin typeface="Georgia"/>
                <a:solidFill>
                  <a:srgbClr val="272724"/>
                </a:solidFill>
              </a:rPr>
              <a:t>Phone pairs</a:t>
            </a:r>
            <a:endParaRPr lang="en-US" sz="1500" b="1"/>
          </a:p>
        </p:txBody>
      </p:sp>
      <p:sp>
        <p:nvSpPr>
          <p:cNvPr id="163" name="text163"/>
          <p:cNvSpPr/>
          <p:nvPr/>
        </p:nvSpPr>
        <p:spPr>
          <a:xfrm>
            <a:off x="5750000" y="2745000"/>
            <a:ext cx="5450000" cy="5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00" tIns="10000" rIns="10000" bIns="10000"/>
          <a:lstStyle/>
          <a:p>
            <a:pPr algn="l">
              <a:defRPr sz="1000">
                <a:latin typeface="Arial"/>
                <a:solidFill>
                  <a:srgbClr val="5F5E59"/>
                </a:solidFill>
              </a:defRPr>
            </a:pPr>
            <a:r>
              <a:rPr lang="en-US" sz="1000">
                <a:latin typeface="Arial"/>
                <a:solidFill>
                  <a:srgbClr val="5F5E59"/>
                </a:solidFill>
              </a:rPr>
              <a:t>The Pi shows a QR link and one-time code. The first successful browser receives the only active, revocable controller lease.</a:t>
            </a:r>
            <a:endParaRPr lang="en-US" sz="1000"/>
          </a:p>
        </p:txBody>
      </p:sp>
      <p:sp>
        <p:nvSpPr>
          <p:cNvPr id="164" name="shape164"/>
          <p:cNvSpPr/>
          <p:nvPr/>
        </p:nvSpPr>
        <p:spPr>
          <a:xfrm>
            <a:off x="3250000" y="3480000"/>
            <a:ext cx="8250000" cy="62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AAA79E"/>
            </a:solidFill>
          </a:ln>
        </p:spPr>
      </p:sp>
      <p:sp>
        <p:nvSpPr>
          <p:cNvPr id="165" name="shape165"/>
          <p:cNvSpPr/>
          <p:nvPr/>
        </p:nvSpPr>
        <p:spPr>
          <a:xfrm>
            <a:off x="3250000" y="3480000"/>
            <a:ext cx="600000" cy="620000"/>
          </a:xfrm>
          <a:prstGeom prst="roundRect">
            <a:avLst/>
          </a:prstGeom>
          <a:solidFill>
            <a:srgbClr val="486B51"/>
          </a:solidFill>
          <a:ln w="900">
            <a:solidFill>
              <a:srgbClr val="486B51"/>
            </a:solidFill>
          </a:ln>
        </p:spPr>
      </p:sp>
      <p:sp>
        <p:nvSpPr>
          <p:cNvPr id="166" name="text166"/>
          <p:cNvSpPr/>
          <p:nvPr/>
        </p:nvSpPr>
        <p:spPr>
          <a:xfrm>
            <a:off x="3400000" y="3625000"/>
            <a:ext cx="3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1600" b="1">
                <a:latin typeface="Arial"/>
                <a:solidFill>
                  <a:srgbClr val="F7F4E9"/>
                </a:solidFill>
              </a:defRPr>
            </a:pPr>
            <a:r>
              <a:rPr lang="en-US" sz="1600" b="1">
                <a:latin typeface="Arial"/>
                <a:solidFill>
                  <a:srgbClr val="F7F4E9"/>
                </a:solidFill>
              </a:rPr>
              <a:t>3</a:t>
            </a:r>
            <a:endParaRPr lang="en-US" sz="1600" b="1"/>
          </a:p>
        </p:txBody>
      </p:sp>
      <p:sp>
        <p:nvSpPr>
          <p:cNvPr id="167" name="text167"/>
          <p:cNvSpPr/>
          <p:nvPr/>
        </p:nvSpPr>
        <p:spPr>
          <a:xfrm>
            <a:off x="4050000" y="3575000"/>
            <a:ext cx="17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500" b="1">
                <a:latin typeface="Georgia"/>
                <a:solidFill>
                  <a:srgbClr val="272724"/>
                </a:solidFill>
              </a:defRPr>
            </a:pPr>
            <a:r>
              <a:rPr lang="en-US" sz="1500" b="1">
                <a:latin typeface="Georgia"/>
                <a:solidFill>
                  <a:srgbClr val="272724"/>
                </a:solidFill>
              </a:rPr>
              <a:t>Browser prepares</a:t>
            </a:r>
            <a:endParaRPr lang="en-US" sz="1500" b="1"/>
          </a:p>
        </p:txBody>
      </p:sp>
      <p:sp>
        <p:nvSpPr>
          <p:cNvPr id="168" name="text168"/>
          <p:cNvSpPr/>
          <p:nvPr/>
        </p:nvSpPr>
        <p:spPr>
          <a:xfrm>
            <a:off x="5750000" y="3535000"/>
            <a:ext cx="5450000" cy="5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00" tIns="10000" rIns="10000" bIns="10000"/>
          <a:lstStyle/>
          <a:p>
            <a:pPr algn="l">
              <a:defRPr sz="1000">
                <a:latin typeface="Arial"/>
                <a:solidFill>
                  <a:srgbClr val="5F5E59"/>
                </a:solidFill>
              </a:defRPr>
            </a:pPr>
            <a:r>
              <a:rPr lang="en-US" sz="1000">
                <a:latin typeface="Arial"/>
                <a:solidFill>
                  <a:srgbClr val="5F5E59"/>
                </a:solidFill>
              </a:rPr>
              <a:t>The phone owns its camera preview, captures one still, limits it to 2048 px, applies the manual crop, checks quality, and computes SHA-256.</a:t>
            </a:r>
            <a:endParaRPr lang="en-US" sz="1000"/>
          </a:p>
        </p:txBody>
      </p:sp>
      <p:sp>
        <p:nvSpPr>
          <p:cNvPr id="169" name="shape169"/>
          <p:cNvSpPr/>
          <p:nvPr/>
        </p:nvSpPr>
        <p:spPr>
          <a:xfrm>
            <a:off x="3250000" y="4270000"/>
            <a:ext cx="8250000" cy="620000"/>
          </a:xfrm>
          <a:prstGeom prst="roundRect">
            <a:avLst/>
          </a:prstGeom>
          <a:solidFill>
            <a:srgbClr val="E2DFD5"/>
          </a:solidFill>
          <a:ln w="900">
            <a:solidFill>
              <a:srgbClr val="AAA79E"/>
            </a:solidFill>
          </a:ln>
        </p:spPr>
      </p:sp>
      <p:sp>
        <p:nvSpPr>
          <p:cNvPr id="170" name="shape170"/>
          <p:cNvSpPr/>
          <p:nvPr/>
        </p:nvSpPr>
        <p:spPr>
          <a:xfrm>
            <a:off x="3250000" y="4270000"/>
            <a:ext cx="600000" cy="620000"/>
          </a:xfrm>
          <a:prstGeom prst="roundRect">
            <a:avLst/>
          </a:prstGeom>
          <a:solidFill>
            <a:srgbClr val="486B51"/>
          </a:solidFill>
          <a:ln w="900">
            <a:solidFill>
              <a:srgbClr val="486B51"/>
            </a:solidFill>
          </a:ln>
        </p:spPr>
      </p:sp>
      <p:sp>
        <p:nvSpPr>
          <p:cNvPr id="171" name="text171"/>
          <p:cNvSpPr/>
          <p:nvPr/>
        </p:nvSpPr>
        <p:spPr>
          <a:xfrm>
            <a:off x="3400000" y="4415000"/>
            <a:ext cx="3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1600" b="1">
                <a:latin typeface="Arial"/>
                <a:solidFill>
                  <a:srgbClr val="F7F4E9"/>
                </a:solidFill>
              </a:defRPr>
            </a:pPr>
            <a:r>
              <a:rPr lang="en-US" sz="1600" b="1">
                <a:latin typeface="Arial"/>
                <a:solidFill>
                  <a:srgbClr val="F7F4E9"/>
                </a:solidFill>
              </a:rPr>
              <a:t>4</a:t>
            </a:r>
            <a:endParaRPr lang="en-US" sz="1600" b="1"/>
          </a:p>
        </p:txBody>
      </p:sp>
      <p:sp>
        <p:nvSpPr>
          <p:cNvPr id="172" name="text172"/>
          <p:cNvSpPr/>
          <p:nvPr/>
        </p:nvSpPr>
        <p:spPr>
          <a:xfrm>
            <a:off x="4050000" y="4365000"/>
            <a:ext cx="17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500" b="1">
                <a:latin typeface="Georgia"/>
                <a:solidFill>
                  <a:srgbClr val="272724"/>
                </a:solidFill>
              </a:defRPr>
            </a:pPr>
            <a:r>
              <a:rPr lang="en-US" sz="1500" b="1">
                <a:latin typeface="Georgia"/>
                <a:solidFill>
                  <a:srgbClr val="272724"/>
                </a:solidFill>
              </a:rPr>
              <a:t>Pi decides</a:t>
            </a:r>
            <a:endParaRPr lang="en-US" sz="1500" b="1"/>
          </a:p>
        </p:txBody>
      </p:sp>
      <p:sp>
        <p:nvSpPr>
          <p:cNvPr id="173" name="text173"/>
          <p:cNvSpPr/>
          <p:nvPr/>
        </p:nvSpPr>
        <p:spPr>
          <a:xfrm>
            <a:off x="5750000" y="4325000"/>
            <a:ext cx="5450000" cy="5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00" tIns="10000" rIns="10000" bIns="10000"/>
          <a:lstStyle/>
          <a:p>
            <a:pPr algn="l">
              <a:defRPr sz="1000">
                <a:latin typeface="Arial"/>
                <a:solidFill>
                  <a:srgbClr val="5F5E59"/>
                </a:solidFill>
              </a:defRPr>
            </a:pPr>
            <a:r>
              <a:rPr lang="en-US" sz="1000">
                <a:latin typeface="Arial"/>
                <a:solidFill>
                  <a:srgbClr val="5F5E59"/>
                </a:solidFill>
              </a:rPr>
              <a:t>Only the approved JPEG crop, hash, dimensions, and request ID are posted. The Pi validates them, classifies, and returns the result.</a:t>
            </a:r>
            <a:endParaRPr lang="en-US" sz="1000"/>
          </a:p>
        </p:txBody>
      </p:sp>
      <p:sp>
        <p:nvSpPr>
          <p:cNvPr id="174" name="shape174"/>
          <p:cNvSpPr/>
          <p:nvPr/>
        </p:nvSpPr>
        <p:spPr>
          <a:xfrm>
            <a:off x="3250000" y="5060000"/>
            <a:ext cx="8250000" cy="62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AAA79E"/>
            </a:solidFill>
          </a:ln>
        </p:spPr>
      </p:sp>
      <p:sp>
        <p:nvSpPr>
          <p:cNvPr id="175" name="shape175"/>
          <p:cNvSpPr/>
          <p:nvPr/>
        </p:nvSpPr>
        <p:spPr>
          <a:xfrm>
            <a:off x="3250000" y="5060000"/>
            <a:ext cx="600000" cy="620000"/>
          </a:xfrm>
          <a:prstGeom prst="roundRect">
            <a:avLst/>
          </a:prstGeom>
          <a:solidFill>
            <a:srgbClr val="8A692E"/>
          </a:solidFill>
          <a:ln w="900">
            <a:solidFill>
              <a:srgbClr val="8A692E"/>
            </a:solidFill>
          </a:ln>
        </p:spPr>
      </p:sp>
      <p:sp>
        <p:nvSpPr>
          <p:cNvPr id="176" name="text176"/>
          <p:cNvSpPr/>
          <p:nvPr/>
        </p:nvSpPr>
        <p:spPr>
          <a:xfrm>
            <a:off x="3400000" y="5205000"/>
            <a:ext cx="3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1600" b="1">
                <a:latin typeface="Arial"/>
                <a:solidFill>
                  <a:srgbClr val="F7F4E9"/>
                </a:solidFill>
              </a:defRPr>
            </a:pPr>
            <a:r>
              <a:rPr lang="en-US" sz="1600" b="1">
                <a:latin typeface="Arial"/>
                <a:solidFill>
                  <a:srgbClr val="F7F4E9"/>
                </a:solidFill>
              </a:rPr>
              <a:t>5</a:t>
            </a:r>
            <a:endParaRPr lang="en-US" sz="1600" b="1"/>
          </a:p>
        </p:txBody>
      </p:sp>
      <p:sp>
        <p:nvSpPr>
          <p:cNvPr id="177" name="text177"/>
          <p:cNvSpPr/>
          <p:nvPr/>
        </p:nvSpPr>
        <p:spPr>
          <a:xfrm>
            <a:off x="4050000" y="5155000"/>
            <a:ext cx="17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500" b="1">
                <a:latin typeface="Georgia"/>
                <a:solidFill>
                  <a:srgbClr val="272724"/>
                </a:solidFill>
              </a:defRPr>
            </a:pPr>
            <a:r>
              <a:rPr lang="en-US" sz="1500" b="1">
                <a:latin typeface="Georgia"/>
                <a:solidFill>
                  <a:srgbClr val="272724"/>
                </a:solidFill>
              </a:rPr>
              <a:t>Pi records</a:t>
            </a:r>
            <a:endParaRPr lang="en-US" sz="1500" b="1"/>
          </a:p>
        </p:txBody>
      </p:sp>
      <p:sp>
        <p:nvSpPr>
          <p:cNvPr id="178" name="text178"/>
          <p:cNvSpPr/>
          <p:nvPr/>
        </p:nvSpPr>
        <p:spPr>
          <a:xfrm>
            <a:off x="5750000" y="5115000"/>
            <a:ext cx="5450000" cy="5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00" tIns="10000" rIns="10000" bIns="10000"/>
          <a:lstStyle/>
          <a:p>
            <a:pPr algn="l">
              <a:defRPr sz="1000">
                <a:latin typeface="Arial"/>
                <a:solidFill>
                  <a:srgbClr val="5F5E59"/>
                </a:solidFill>
              </a:defRPr>
            </a:pPr>
            <a:r>
              <a:rPr lang="en-US" sz="1000">
                <a:latin typeface="Arial"/>
                <a:solidFill>
                  <a:srgbClr val="5F5E59"/>
                </a:solidFill>
              </a:rPr>
              <a:t>Only an accepted result can be saved. Optional phone location is added at save time; the Pi keeps the authoritative SQLite record and image.</a:t>
            </a:r>
            <a:endParaRPr lang="en-US" sz="1000"/>
          </a:p>
        </p:txBody>
      </p:sp>
      <p:sp>
        <p:nvSpPr>
          <p:cNvPr id="179" name="shape179"/>
          <p:cNvSpPr/>
          <p:nvPr/>
        </p:nvSpPr>
        <p:spPr>
          <a:xfrm>
            <a:off x="500000" y="6500000"/>
            <a:ext cx="11200000" cy="2000"/>
          </a:xfrm>
          <a:prstGeom prst="rect">
            <a:avLst/>
          </a:prstGeom>
          <a:solidFill>
            <a:srgbClr val="AAA79E"/>
          </a:solidFill>
          <a:ln>
            <a:noFill/>
          </a:ln>
        </p:spPr>
      </p:sp>
      <p:sp>
        <p:nvSpPr>
          <p:cNvPr id="180" name="text180"/>
          <p:cNvSpPr/>
          <p:nvPr/>
        </p:nvSpPr>
        <p:spPr>
          <a:xfrm>
            <a:off x="500000" y="6550000"/>
            <a:ext cx="95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800" b="1">
                <a:latin typeface="Arial"/>
                <a:solidFill>
                  <a:srgbClr val="85827B"/>
                </a:solidFill>
              </a:defRPr>
            </a:pPr>
            <a:r>
              <a:rPr lang="en-US" sz="800" b="1">
                <a:latin typeface="Arial"/>
                <a:solidFill>
                  <a:srgbClr val="85827B"/>
                </a:solidFill>
              </a:rPr>
              <a:t>BOTANIKA  ·  GEG XR HACKATHON 2026  ·  LOCAL-FIRST FIELD INTELLIGENCE</a:t>
            </a:r>
            <a:endParaRPr lang="en-US" sz="800" b="1"/>
          </a:p>
        </p:txBody>
      </p:sp>
      <p:sp>
        <p:nvSpPr>
          <p:cNvPr id="181" name="text181"/>
          <p:cNvSpPr/>
          <p:nvPr/>
        </p:nvSpPr>
        <p:spPr>
          <a:xfrm>
            <a:off x="11250000" y="6550000"/>
            <a:ext cx="4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r">
              <a:defRPr sz="900" b="1">
                <a:latin typeface="Arial"/>
                <a:solidFill>
                  <a:srgbClr val="486B51"/>
                </a:solidFill>
              </a:defRPr>
            </a:pPr>
            <a:r>
              <a:rPr lang="en-US" sz="900" b="1">
                <a:latin typeface="Arial"/>
                <a:solidFill>
                  <a:srgbClr val="486B51"/>
                </a:solidFill>
              </a:rPr>
              <a:t>02</a:t>
            </a:r>
            <a:endParaRPr lang="en-US" sz="9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tanika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3"/>
          </a:solidFill>
          <a:ln>
            <a:noFill/>
          </a:ln>
        </p:spPr>
      </p:sp>
      <p:sp>
        <p:nvSpPr>
          <p:cNvPr id="101" name="shape101"/>
          <p:cNvSpPr/>
          <p:nvPr/>
        </p:nvSpPr>
        <p:spPr>
          <a:xfrm>
            <a:off x="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2" name="shape102"/>
          <p:cNvSpPr/>
          <p:nvPr/>
        </p:nvSpPr>
        <p:spPr>
          <a:xfrm>
            <a:off x="4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3" name="shape103"/>
          <p:cNvSpPr/>
          <p:nvPr/>
        </p:nvSpPr>
        <p:spPr>
          <a:xfrm>
            <a:off x="8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4" name="shape104"/>
          <p:cNvSpPr/>
          <p:nvPr/>
        </p:nvSpPr>
        <p:spPr>
          <a:xfrm>
            <a:off x="12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5" name="shape105"/>
          <p:cNvSpPr/>
          <p:nvPr/>
        </p:nvSpPr>
        <p:spPr>
          <a:xfrm>
            <a:off x="16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6" name="shape106"/>
          <p:cNvSpPr/>
          <p:nvPr/>
        </p:nvSpPr>
        <p:spPr>
          <a:xfrm>
            <a:off x="21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7" name="shape107"/>
          <p:cNvSpPr/>
          <p:nvPr/>
        </p:nvSpPr>
        <p:spPr>
          <a:xfrm>
            <a:off x="25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8" name="shape108"/>
          <p:cNvSpPr/>
          <p:nvPr/>
        </p:nvSpPr>
        <p:spPr>
          <a:xfrm>
            <a:off x="29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9" name="shape109"/>
          <p:cNvSpPr/>
          <p:nvPr/>
        </p:nvSpPr>
        <p:spPr>
          <a:xfrm>
            <a:off x="33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0" name="shape110"/>
          <p:cNvSpPr/>
          <p:nvPr/>
        </p:nvSpPr>
        <p:spPr>
          <a:xfrm>
            <a:off x="37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1" name="shape111"/>
          <p:cNvSpPr/>
          <p:nvPr/>
        </p:nvSpPr>
        <p:spPr>
          <a:xfrm>
            <a:off x="42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2" name="shape112"/>
          <p:cNvSpPr/>
          <p:nvPr/>
        </p:nvSpPr>
        <p:spPr>
          <a:xfrm>
            <a:off x="46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3" name="shape113"/>
          <p:cNvSpPr/>
          <p:nvPr/>
        </p:nvSpPr>
        <p:spPr>
          <a:xfrm>
            <a:off x="50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4" name="shape114"/>
          <p:cNvSpPr/>
          <p:nvPr/>
        </p:nvSpPr>
        <p:spPr>
          <a:xfrm>
            <a:off x="54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5" name="shape115"/>
          <p:cNvSpPr/>
          <p:nvPr/>
        </p:nvSpPr>
        <p:spPr>
          <a:xfrm>
            <a:off x="58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6" name="shape116"/>
          <p:cNvSpPr/>
          <p:nvPr/>
        </p:nvSpPr>
        <p:spPr>
          <a:xfrm>
            <a:off x="63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7" name="shape117"/>
          <p:cNvSpPr/>
          <p:nvPr/>
        </p:nvSpPr>
        <p:spPr>
          <a:xfrm>
            <a:off x="67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8" name="shape118"/>
          <p:cNvSpPr/>
          <p:nvPr/>
        </p:nvSpPr>
        <p:spPr>
          <a:xfrm>
            <a:off x="71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9" name="shape119"/>
          <p:cNvSpPr/>
          <p:nvPr/>
        </p:nvSpPr>
        <p:spPr>
          <a:xfrm>
            <a:off x="75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0" name="shape120"/>
          <p:cNvSpPr/>
          <p:nvPr/>
        </p:nvSpPr>
        <p:spPr>
          <a:xfrm>
            <a:off x="79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1" name="shape121"/>
          <p:cNvSpPr/>
          <p:nvPr/>
        </p:nvSpPr>
        <p:spPr>
          <a:xfrm>
            <a:off x="84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2" name="shape122"/>
          <p:cNvSpPr/>
          <p:nvPr/>
        </p:nvSpPr>
        <p:spPr>
          <a:xfrm>
            <a:off x="88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3" name="shape123"/>
          <p:cNvSpPr/>
          <p:nvPr/>
        </p:nvSpPr>
        <p:spPr>
          <a:xfrm>
            <a:off x="92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4" name="shape124"/>
          <p:cNvSpPr/>
          <p:nvPr/>
        </p:nvSpPr>
        <p:spPr>
          <a:xfrm>
            <a:off x="96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5" name="shape125"/>
          <p:cNvSpPr/>
          <p:nvPr/>
        </p:nvSpPr>
        <p:spPr>
          <a:xfrm>
            <a:off x="100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6" name="shape126"/>
          <p:cNvSpPr/>
          <p:nvPr/>
        </p:nvSpPr>
        <p:spPr>
          <a:xfrm>
            <a:off x="105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7" name="shape127"/>
          <p:cNvSpPr/>
          <p:nvPr/>
        </p:nvSpPr>
        <p:spPr>
          <a:xfrm>
            <a:off x="109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8" name="shape128"/>
          <p:cNvSpPr/>
          <p:nvPr/>
        </p:nvSpPr>
        <p:spPr>
          <a:xfrm>
            <a:off x="113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9" name="shape129"/>
          <p:cNvSpPr/>
          <p:nvPr/>
        </p:nvSpPr>
        <p:spPr>
          <a:xfrm>
            <a:off x="117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0" name="shape130"/>
          <p:cNvSpPr/>
          <p:nvPr/>
        </p:nvSpPr>
        <p:spPr>
          <a:xfrm>
            <a:off x="121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1" name="shape131"/>
          <p:cNvSpPr/>
          <p:nvPr/>
        </p:nvSpPr>
        <p:spPr>
          <a:xfrm>
            <a:off x="0" y="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2" name="shape132"/>
          <p:cNvSpPr/>
          <p:nvPr/>
        </p:nvSpPr>
        <p:spPr>
          <a:xfrm>
            <a:off x="0" y="4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3" name="shape133"/>
          <p:cNvSpPr/>
          <p:nvPr/>
        </p:nvSpPr>
        <p:spPr>
          <a:xfrm>
            <a:off x="0" y="8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4" name="shape134"/>
          <p:cNvSpPr/>
          <p:nvPr/>
        </p:nvSpPr>
        <p:spPr>
          <a:xfrm>
            <a:off x="0" y="12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5" name="shape135"/>
          <p:cNvSpPr/>
          <p:nvPr/>
        </p:nvSpPr>
        <p:spPr>
          <a:xfrm>
            <a:off x="0" y="16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6" name="shape136"/>
          <p:cNvSpPr/>
          <p:nvPr/>
        </p:nvSpPr>
        <p:spPr>
          <a:xfrm>
            <a:off x="0" y="21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7" name="shape137"/>
          <p:cNvSpPr/>
          <p:nvPr/>
        </p:nvSpPr>
        <p:spPr>
          <a:xfrm>
            <a:off x="0" y="25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8" name="shape138"/>
          <p:cNvSpPr/>
          <p:nvPr/>
        </p:nvSpPr>
        <p:spPr>
          <a:xfrm>
            <a:off x="0" y="29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9" name="shape139"/>
          <p:cNvSpPr/>
          <p:nvPr/>
        </p:nvSpPr>
        <p:spPr>
          <a:xfrm>
            <a:off x="0" y="33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0" name="shape140"/>
          <p:cNvSpPr/>
          <p:nvPr/>
        </p:nvSpPr>
        <p:spPr>
          <a:xfrm>
            <a:off x="0" y="37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1" name="shape141"/>
          <p:cNvSpPr/>
          <p:nvPr/>
        </p:nvSpPr>
        <p:spPr>
          <a:xfrm>
            <a:off x="0" y="42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2" name="shape142"/>
          <p:cNvSpPr/>
          <p:nvPr/>
        </p:nvSpPr>
        <p:spPr>
          <a:xfrm>
            <a:off x="0" y="46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3" name="shape143"/>
          <p:cNvSpPr/>
          <p:nvPr/>
        </p:nvSpPr>
        <p:spPr>
          <a:xfrm>
            <a:off x="0" y="50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4" name="shape144"/>
          <p:cNvSpPr/>
          <p:nvPr/>
        </p:nvSpPr>
        <p:spPr>
          <a:xfrm>
            <a:off x="0" y="54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5" name="shape145"/>
          <p:cNvSpPr/>
          <p:nvPr/>
        </p:nvSpPr>
        <p:spPr>
          <a:xfrm>
            <a:off x="0" y="58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6" name="shape146"/>
          <p:cNvSpPr/>
          <p:nvPr/>
        </p:nvSpPr>
        <p:spPr>
          <a:xfrm>
            <a:off x="0" y="63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7" name="shape147"/>
          <p:cNvSpPr/>
          <p:nvPr/>
        </p:nvSpPr>
        <p:spPr>
          <a:xfrm>
            <a:off x="0" y="67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8" name="text148"/>
          <p:cNvSpPr/>
          <p:nvPr/>
        </p:nvSpPr>
        <p:spPr>
          <a:xfrm>
            <a:off x="600000" y="480000"/>
            <a:ext cx="4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02  ·  TECHNICAL ARCHITECTURE</a:t>
            </a:r>
            <a:endParaRPr lang="en-US" sz="1000" b="1"/>
          </a:p>
        </p:txBody>
      </p:sp>
      <p:sp>
        <p:nvSpPr>
          <p:cNvPr id="149" name="text149"/>
          <p:cNvSpPr/>
          <p:nvPr/>
        </p:nvSpPr>
        <p:spPr>
          <a:xfrm>
            <a:off x="600000" y="780000"/>
            <a:ext cx="91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3100" b="1">
                <a:latin typeface="Georgia"/>
                <a:solidFill>
                  <a:srgbClr val="272724"/>
                </a:solidFill>
              </a:defRPr>
            </a:pPr>
            <a:r>
              <a:rPr lang="en-US" sz="3100" b="1">
                <a:latin typeface="Georgia"/>
                <a:solidFill>
                  <a:srgbClr val="272724"/>
                </a:solidFill>
              </a:rPr>
              <a:t>The phone never becomes the compute node</a:t>
            </a:r>
            <a:endParaRPr lang="en-US" sz="3100" b="1"/>
          </a:p>
        </p:txBody>
      </p:sp>
      <p:sp>
        <p:nvSpPr>
          <p:cNvPr id="150" name="text150"/>
          <p:cNvSpPr/>
          <p:nvPr/>
        </p:nvSpPr>
        <p:spPr>
          <a:xfrm>
            <a:off x="600000" y="1350000"/>
            <a:ext cx="10300000" cy="3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500">
                <a:latin typeface="Arial"/>
                <a:solidFill>
                  <a:srgbClr val="5F5E59"/>
                </a:solidFill>
              </a:defRPr>
            </a:pPr>
            <a:r>
              <a:rPr lang="en-US" sz="1500">
                <a:latin typeface="Arial"/>
                <a:solidFill>
                  <a:srgbClr val="5F5E59"/>
                </a:solidFill>
              </a:rPr>
              <a:t>One React interface spans the Pi kiosk and paired browser; FastAPI on the Pi is the single backend contract and source of truth.</a:t>
            </a:r>
            <a:endParaRPr lang="en-US" sz="1500"/>
          </a:p>
        </p:txBody>
      </p:sp>
      <p:sp>
        <p:nvSpPr>
          <p:cNvPr id="151" name="shape151"/>
          <p:cNvSpPr/>
          <p:nvPr/>
        </p:nvSpPr>
        <p:spPr>
          <a:xfrm>
            <a:off x="700000" y="1950000"/>
            <a:ext cx="3430000" cy="372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486B51"/>
            </a:solidFill>
          </a:ln>
        </p:spPr>
      </p:sp>
      <p:sp>
        <p:nvSpPr>
          <p:cNvPr id="152" name="shape152"/>
          <p:cNvSpPr/>
          <p:nvPr/>
        </p:nvSpPr>
        <p:spPr>
          <a:xfrm>
            <a:off x="700000" y="1950000"/>
            <a:ext cx="3430000" cy="520000"/>
          </a:xfrm>
          <a:prstGeom prst="roundRect">
            <a:avLst/>
          </a:prstGeom>
          <a:solidFill>
            <a:srgbClr val="486B51"/>
          </a:solidFill>
          <a:ln w="900">
            <a:solidFill>
              <a:srgbClr val="486B51"/>
            </a:solidFill>
          </a:ln>
        </p:spPr>
      </p:sp>
      <p:sp>
        <p:nvSpPr>
          <p:cNvPr id="153" name="text153"/>
          <p:cNvSpPr/>
          <p:nvPr/>
        </p:nvSpPr>
        <p:spPr>
          <a:xfrm>
            <a:off x="900000" y="2100000"/>
            <a:ext cx="300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1100" b="1">
                <a:latin typeface="Arial"/>
                <a:solidFill>
                  <a:srgbClr val="F7F4E9"/>
                </a:solidFill>
              </a:defRPr>
            </a:pPr>
            <a:r>
              <a:rPr lang="en-US" sz="1100" b="1">
                <a:latin typeface="Arial"/>
                <a:solidFill>
                  <a:srgbClr val="F7F4E9"/>
                </a:solidFill>
              </a:rPr>
              <a:t>PHONE · THIN CLIENT</a:t>
            </a:r>
            <a:endParaRPr lang="en-US" sz="1100" b="1"/>
          </a:p>
        </p:txBody>
      </p:sp>
      <p:sp>
        <p:nvSpPr>
          <p:cNvPr id="154" name="text154"/>
          <p:cNvSpPr/>
          <p:nvPr/>
        </p:nvSpPr>
        <p:spPr>
          <a:xfrm>
            <a:off x="950000" y="2690000"/>
            <a:ext cx="2930000" cy="2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300">
                <a:latin typeface="Arial"/>
                <a:solidFill>
                  <a:srgbClr val="5F5E59"/>
                </a:solidFill>
              </a:defRPr>
            </a:pPr>
            <a:r>
              <a:rPr lang="en-US" sz="1300">
                <a:latin typeface="Arial"/>
                <a:solidFill>
                  <a:srgbClr val="5F5E59"/>
                </a:solidFill>
              </a:rPr>
              <a:t>• Responsive UI served by the Pi</a:t>
            </a:r>
            <a:endParaRPr lang="en-US" sz="1300"/>
          </a:p>
          <a:p>
            <a:pPr algn="l">
              <a:defRPr sz="1300">
                <a:latin typeface="Arial"/>
                <a:solidFill>
                  <a:srgbClr val="5F5E59"/>
                </a:solidFill>
              </a:defRPr>
            </a:pPr>
            <a:r>
              <a:rPr lang="en-US" sz="1300">
                <a:latin typeface="Arial"/>
                <a:solidFill>
                  <a:srgbClr val="5F5E59"/>
                </a:solidFill>
              </a:rPr>
              <a:t>• getUserMedia or still-file capture</a:t>
            </a:r>
            <a:endParaRPr lang="en-US" sz="1300"/>
          </a:p>
          <a:p>
            <a:pPr algn="l">
              <a:defRPr sz="1300">
                <a:latin typeface="Arial"/>
                <a:solidFill>
                  <a:srgbClr val="5F5E59"/>
                </a:solidFill>
              </a:defRPr>
            </a:pPr>
            <a:r>
              <a:rPr lang="en-US" sz="1300">
                <a:latin typeface="Arial"/>
                <a:solidFill>
                  <a:srgbClr val="5F5E59"/>
                </a:solidFill>
              </a:rPr>
              <a:t>• Local preview, crop, quality check</a:t>
            </a:r>
            <a:endParaRPr lang="en-US" sz="1300"/>
          </a:p>
          <a:p>
            <a:pPr algn="l">
              <a:defRPr sz="1300">
                <a:latin typeface="Arial"/>
                <a:solidFill>
                  <a:srgbClr val="5F5E59"/>
                </a:solidFill>
              </a:defRPr>
            </a:pPr>
            <a:r>
              <a:rPr lang="en-US" sz="1300">
                <a:latin typeface="Arial"/>
                <a:solidFill>
                  <a:srgbClr val="5F5E59"/>
                </a:solidFill>
              </a:rPr>
              <a:t>• ≤2048 px JPEG + SHA-256</a:t>
            </a:r>
            <a:endParaRPr lang="en-US" sz="1300"/>
          </a:p>
          <a:p>
            <a:pPr algn="l">
              <a:defRPr sz="1300">
                <a:latin typeface="Arial"/>
                <a:solidFill>
                  <a:srgbClr val="5F5E59"/>
                </a:solidFill>
              </a:defRPr>
            </a:pPr>
            <a:r>
              <a:rPr lang="en-US" sz="1300">
                <a:latin typeface="Arial"/>
                <a:solidFill>
                  <a:srgbClr val="5F5E59"/>
                </a:solidFill>
              </a:rPr>
              <a:t>• Result rendering + optional location</a:t>
            </a:r>
            <a:endParaRPr lang="en-US" sz="1300"/>
          </a:p>
          <a:p>
            <a:pPr algn="l">
              <a:defRPr sz="1300">
                <a:latin typeface="Arial"/>
                <a:solidFill>
                  <a:srgbClr val="5F5E59"/>
                </a:solidFill>
              </a:defRPr>
            </a:pPr>
            <a:r>
              <a:rPr lang="en-US" sz="1300">
                <a:latin typeface="Arial"/>
                <a:solidFill>
                  <a:srgbClr val="5F5E59"/>
                </a:solidFill>
              </a:rPr>
              <a:t/>
            </a:r>
            <a:endParaRPr lang="en-US" sz="1300"/>
          </a:p>
          <a:p>
            <a:pPr algn="l">
              <a:defRPr sz="1300">
                <a:latin typeface="Arial"/>
                <a:solidFill>
                  <a:srgbClr val="5F5E59"/>
                </a:solidFill>
              </a:defRPr>
            </a:pPr>
            <a:r>
              <a:rPr lang="en-US" sz="1300">
                <a:latin typeface="Arial"/>
                <a:solidFill>
                  <a:srgbClr val="5F5E59"/>
                </a:solidFill>
              </a:rPr>
              <a:t>No model weights. No database. No live plant video upload.</a:t>
            </a:r>
            <a:endParaRPr lang="en-US" sz="1300"/>
          </a:p>
        </p:txBody>
      </p:sp>
      <p:sp>
        <p:nvSpPr>
          <p:cNvPr id="155" name="shape155"/>
          <p:cNvSpPr/>
          <p:nvPr/>
        </p:nvSpPr>
        <p:spPr>
          <a:xfrm>
            <a:off x="4380000" y="1950000"/>
            <a:ext cx="3430000" cy="372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8A692E"/>
            </a:solidFill>
          </a:ln>
        </p:spPr>
      </p:sp>
      <p:sp>
        <p:nvSpPr>
          <p:cNvPr id="156" name="shape156"/>
          <p:cNvSpPr/>
          <p:nvPr/>
        </p:nvSpPr>
        <p:spPr>
          <a:xfrm>
            <a:off x="4380000" y="1950000"/>
            <a:ext cx="3430000" cy="520000"/>
          </a:xfrm>
          <a:prstGeom prst="roundRect">
            <a:avLst/>
          </a:prstGeom>
          <a:solidFill>
            <a:srgbClr val="8A692E"/>
          </a:solidFill>
          <a:ln w="900">
            <a:solidFill>
              <a:srgbClr val="8A692E"/>
            </a:solidFill>
          </a:ln>
        </p:spPr>
      </p:sp>
      <p:sp>
        <p:nvSpPr>
          <p:cNvPr id="157" name="text157"/>
          <p:cNvSpPr/>
          <p:nvPr/>
        </p:nvSpPr>
        <p:spPr>
          <a:xfrm>
            <a:off x="4580000" y="2100000"/>
            <a:ext cx="300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1100" b="1">
                <a:latin typeface="Arial"/>
                <a:solidFill>
                  <a:srgbClr val="F7F4E9"/>
                </a:solidFill>
              </a:defRPr>
            </a:pPr>
            <a:r>
              <a:rPr lang="en-US" sz="1100" b="1">
                <a:latin typeface="Arial"/>
                <a:solidFill>
                  <a:srgbClr val="F7F4E9"/>
                </a:solidFill>
              </a:rPr>
              <a:t>SECURE TRANSPORT</a:t>
            </a:r>
            <a:endParaRPr lang="en-US" sz="1100" b="1"/>
          </a:p>
        </p:txBody>
      </p:sp>
      <p:sp>
        <p:nvSpPr>
          <p:cNvPr id="158" name="text158"/>
          <p:cNvSpPr/>
          <p:nvPr/>
        </p:nvSpPr>
        <p:spPr>
          <a:xfrm>
            <a:off x="4630000" y="2690000"/>
            <a:ext cx="2930000" cy="2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300">
                <a:latin typeface="Arial"/>
                <a:solidFill>
                  <a:srgbClr val="5F5E59"/>
                </a:solidFill>
              </a:defRPr>
            </a:pPr>
            <a:r>
              <a:rPr lang="en-US" sz="1300">
                <a:latin typeface="Arial"/>
                <a:solidFill>
                  <a:srgbClr val="5F5E59"/>
                </a:solidFill>
              </a:rPr>
              <a:t>• Same-origin /api/v1 requests</a:t>
            </a:r>
            <a:endParaRPr lang="en-US" sz="1300"/>
          </a:p>
          <a:p>
            <a:pPr algn="l">
              <a:defRPr sz="1300">
                <a:latin typeface="Arial"/>
                <a:solidFill>
                  <a:srgbClr val="5F5E59"/>
                </a:solidFill>
              </a:defRPr>
            </a:pPr>
            <a:r>
              <a:rPr lang="en-US" sz="1300">
                <a:latin typeface="Arial"/>
                <a:solidFill>
                  <a:srgbClr val="5F5E59"/>
                </a:solidFill>
              </a:rPr>
              <a:t>• Temporary trycloudflare HTTPS URL</a:t>
            </a:r>
            <a:endParaRPr lang="en-US" sz="1300"/>
          </a:p>
          <a:p>
            <a:pPr algn="l">
              <a:defRPr sz="1300">
                <a:latin typeface="Arial"/>
                <a:solidFill>
                  <a:srgbClr val="5F5E59"/>
                </a:solidFill>
              </a:defRPr>
            </a:pPr>
            <a:r>
              <a:rPr lang="en-US" sz="1300">
                <a:latin typeface="Arial"/>
                <a:solidFill>
                  <a:srgbClr val="5F5E59"/>
                </a:solidFill>
              </a:rPr>
              <a:t>• QR + one-time pairing code</a:t>
            </a:r>
            <a:endParaRPr lang="en-US" sz="1300"/>
          </a:p>
          <a:p>
            <a:pPr algn="l">
              <a:defRPr sz="1300">
                <a:latin typeface="Arial"/>
                <a:solidFill>
                  <a:srgbClr val="5F5E59"/>
                </a:solidFill>
              </a:defRPr>
            </a:pPr>
            <a:r>
              <a:rPr lang="en-US" sz="1300">
                <a:latin typeface="Arial"/>
                <a:solidFill>
                  <a:srgbClr val="5F5E59"/>
                </a:solidFill>
              </a:rPr>
              <a:t>• One bearer lease; heartbeat + polling</a:t>
            </a:r>
            <a:endParaRPr lang="en-US" sz="1300"/>
          </a:p>
          <a:p>
            <a:pPr algn="l">
              <a:defRPr sz="1300">
                <a:latin typeface="Arial"/>
                <a:solidFill>
                  <a:srgbClr val="5F5E59"/>
                </a:solidFill>
              </a:defRPr>
            </a:pPr>
            <a:r>
              <a:rPr lang="en-US" sz="1300">
                <a:latin typeface="Arial"/>
                <a:solidFill>
                  <a:srgbClr val="5F5E59"/>
                </a:solidFill>
              </a:rPr>
              <a:t>• Hash/dimensions/request ID travel with crop</a:t>
            </a:r>
            <a:endParaRPr lang="en-US" sz="1300"/>
          </a:p>
          <a:p>
            <a:pPr algn="l">
              <a:defRPr sz="1300">
                <a:latin typeface="Arial"/>
                <a:solidFill>
                  <a:srgbClr val="5F5E59"/>
                </a:solidFill>
              </a:defRPr>
            </a:pPr>
            <a:r>
              <a:rPr lang="en-US" sz="1300">
                <a:latin typeface="Arial"/>
                <a:solidFill>
                  <a:srgbClr val="5F5E59"/>
                </a:solidFill>
              </a:rPr>
              <a:t/>
            </a:r>
            <a:endParaRPr lang="en-US" sz="1300"/>
          </a:p>
          <a:p>
            <a:pPr algn="l">
              <a:defRPr sz="1300">
                <a:latin typeface="Arial"/>
                <a:solidFill>
                  <a:srgbClr val="5F5E59"/>
                </a:solidFill>
              </a:defRPr>
            </a:pPr>
            <a:r>
              <a:rPr lang="en-US" sz="1300">
                <a:latin typeface="Arial"/>
                <a:solidFill>
                  <a:srgbClr val="5F5E59"/>
                </a:solidFill>
              </a:rPr>
              <a:t>Private Pi Wi-Fi is the no-internet fallback.</a:t>
            </a:r>
            <a:endParaRPr lang="en-US" sz="1300"/>
          </a:p>
        </p:txBody>
      </p:sp>
      <p:sp>
        <p:nvSpPr>
          <p:cNvPr id="159" name="shape159"/>
          <p:cNvSpPr/>
          <p:nvPr/>
        </p:nvSpPr>
        <p:spPr>
          <a:xfrm>
            <a:off x="8060000" y="1950000"/>
            <a:ext cx="3430000" cy="372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8B3028"/>
            </a:solidFill>
          </a:ln>
        </p:spPr>
      </p:sp>
      <p:sp>
        <p:nvSpPr>
          <p:cNvPr id="160" name="shape160"/>
          <p:cNvSpPr/>
          <p:nvPr/>
        </p:nvSpPr>
        <p:spPr>
          <a:xfrm>
            <a:off x="8060000" y="1950000"/>
            <a:ext cx="3430000" cy="520000"/>
          </a:xfrm>
          <a:prstGeom prst="roundRect">
            <a:avLst/>
          </a:prstGeom>
          <a:solidFill>
            <a:srgbClr val="8B3028"/>
          </a:solidFill>
          <a:ln w="900">
            <a:solidFill>
              <a:srgbClr val="8B3028"/>
            </a:solidFill>
          </a:ln>
        </p:spPr>
      </p:sp>
      <p:sp>
        <p:nvSpPr>
          <p:cNvPr id="161" name="text161"/>
          <p:cNvSpPr/>
          <p:nvPr/>
        </p:nvSpPr>
        <p:spPr>
          <a:xfrm>
            <a:off x="8260000" y="2100000"/>
            <a:ext cx="300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1100" b="1">
                <a:latin typeface="Arial"/>
                <a:solidFill>
                  <a:srgbClr val="F7F4E9"/>
                </a:solidFill>
              </a:defRPr>
            </a:pPr>
            <a:r>
              <a:rPr lang="en-US" sz="1100" b="1">
                <a:latin typeface="Arial"/>
                <a:solidFill>
                  <a:srgbClr val="F7F4E9"/>
                </a:solidFill>
              </a:rPr>
              <a:t>RASPBERRY PI · AUTHORITY</a:t>
            </a:r>
            <a:endParaRPr lang="en-US" sz="1100" b="1"/>
          </a:p>
        </p:txBody>
      </p:sp>
      <p:sp>
        <p:nvSpPr>
          <p:cNvPr id="162" name="text162"/>
          <p:cNvSpPr/>
          <p:nvPr/>
        </p:nvSpPr>
        <p:spPr>
          <a:xfrm>
            <a:off x="8310000" y="2690000"/>
            <a:ext cx="2930000" cy="2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300">
                <a:latin typeface="Arial"/>
                <a:solidFill>
                  <a:srgbClr val="5F5E59"/>
                </a:solidFill>
              </a:defRPr>
            </a:pPr>
            <a:r>
              <a:rPr lang="en-US" sz="1300">
                <a:latin typeface="Arial"/>
                <a:solidFill>
                  <a:srgbClr val="5F5E59"/>
                </a:solidFill>
              </a:rPr>
              <a:t>• FastAPI mode + authorization</a:t>
            </a:r>
            <a:endParaRPr lang="en-US" sz="1300"/>
          </a:p>
          <a:p>
            <a:pPr algn="l">
              <a:defRPr sz="1300">
                <a:latin typeface="Arial"/>
                <a:solidFill>
                  <a:srgbClr val="5F5E59"/>
                </a:solidFill>
              </a:defRPr>
            </a:pPr>
            <a:r>
              <a:rPr lang="en-US" sz="1300">
                <a:latin typeface="Arial"/>
                <a:solidFill>
                  <a:srgbClr val="5F5E59"/>
                </a:solidFill>
              </a:rPr>
              <a:t>• OpenCV/NumPy plant classifier</a:t>
            </a:r>
            <a:endParaRPr lang="en-US" sz="1300"/>
          </a:p>
          <a:p>
            <a:pPr algn="l">
              <a:defRPr sz="1300">
                <a:latin typeface="Arial"/>
                <a:solidFill>
                  <a:srgbClr val="5F5E59"/>
                </a:solidFill>
              </a:defRPr>
            </a:pPr>
            <a:r>
              <a:rPr lang="en-US" sz="1300">
                <a:latin typeface="Arial"/>
                <a:solidFill>
                  <a:srgbClr val="5F5E59"/>
                </a:solidFill>
              </a:rPr>
              <a:t>• Separate ONNX weed beta</a:t>
            </a:r>
            <a:endParaRPr lang="en-US" sz="1300"/>
          </a:p>
          <a:p>
            <a:pPr algn="l">
              <a:defRPr sz="1300">
                <a:latin typeface="Arial"/>
                <a:solidFill>
                  <a:srgbClr val="5F5E59"/>
                </a:solidFill>
              </a:defRPr>
            </a:pPr>
            <a:r>
              <a:rPr lang="en-US" sz="1300">
                <a:latin typeface="Arial"/>
                <a:solidFill>
                  <a:srgbClr val="5F5E59"/>
                </a:solidFill>
              </a:rPr>
              <a:t>• SQLite + FTS knowledge/library</a:t>
            </a:r>
            <a:endParaRPr lang="en-US" sz="1300"/>
          </a:p>
          <a:p>
            <a:pPr algn="l">
              <a:defRPr sz="1300">
                <a:latin typeface="Arial"/>
                <a:solidFill>
                  <a:srgbClr val="5F5E59"/>
                </a:solidFill>
              </a:defRPr>
            </a:pPr>
            <a:r>
              <a:rPr lang="en-US" sz="1300">
                <a:latin typeface="Arial"/>
                <a:solidFill>
                  <a:srgbClr val="5F5E59"/>
                </a:solidFill>
              </a:rPr>
              <a:t>• Crop provenance and save checks</a:t>
            </a:r>
            <a:endParaRPr lang="en-US" sz="1300"/>
          </a:p>
          <a:p>
            <a:pPr algn="l">
              <a:defRPr sz="1300">
                <a:latin typeface="Arial"/>
                <a:solidFill>
                  <a:srgbClr val="5F5E59"/>
                </a:solidFill>
              </a:defRPr>
            </a:pPr>
            <a:r>
              <a:rPr lang="en-US" sz="1300">
                <a:latin typeface="Arial"/>
                <a:solidFill>
                  <a:srgbClr val="5F5E59"/>
                </a:solidFill>
              </a:rPr>
              <a:t>• Local kiosk, camera, voice services</a:t>
            </a:r>
            <a:endParaRPr lang="en-US" sz="1300"/>
          </a:p>
          <a:p>
            <a:pPr algn="l">
              <a:defRPr sz="1300">
                <a:latin typeface="Arial"/>
                <a:solidFill>
                  <a:srgbClr val="5F5E59"/>
                </a:solidFill>
              </a:defRPr>
            </a:pPr>
            <a:r>
              <a:rPr lang="en-US" sz="1300">
                <a:latin typeface="Arial"/>
                <a:solidFill>
                  <a:srgbClr val="5F5E59"/>
                </a:solidFill>
              </a:rPr>
              <a:t/>
            </a:r>
            <a:endParaRPr lang="en-US" sz="1300"/>
          </a:p>
          <a:p>
            <a:pPr algn="l">
              <a:defRPr sz="1300">
                <a:latin typeface="Arial"/>
                <a:solidFill>
                  <a:srgbClr val="5F5E59"/>
                </a:solidFill>
              </a:defRPr>
            </a:pPr>
            <a:r>
              <a:rPr lang="en-US" sz="1300">
                <a:latin typeface="Arial"/>
                <a:solidFill>
                  <a:srgbClr val="5F5E59"/>
                </a:solidFill>
              </a:rPr>
              <a:t>Inference, policy, knowledge, and persistence stay here.</a:t>
            </a:r>
            <a:endParaRPr lang="en-US" sz="1300"/>
          </a:p>
        </p:txBody>
      </p:sp>
      <p:sp>
        <p:nvSpPr>
          <p:cNvPr id="163" name="text163"/>
          <p:cNvSpPr/>
          <p:nvPr/>
        </p:nvSpPr>
        <p:spPr>
          <a:xfrm>
            <a:off x="4050000" y="323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2400" b="1">
                <a:latin typeface="Arial"/>
                <a:solidFill>
                  <a:srgbClr val="486B51"/>
                </a:solidFill>
              </a:defRPr>
            </a:pPr>
            <a:r>
              <a:rPr lang="en-US" sz="2400" b="1">
                <a:latin typeface="Arial"/>
                <a:solidFill>
                  <a:srgbClr val="486B51"/>
                </a:solidFill>
              </a:rPr>
              <a:t>→</a:t>
            </a:r>
            <a:endParaRPr lang="en-US" sz="2400" b="1"/>
          </a:p>
        </p:txBody>
      </p:sp>
      <p:sp>
        <p:nvSpPr>
          <p:cNvPr id="164" name="text164"/>
          <p:cNvSpPr/>
          <p:nvPr/>
        </p:nvSpPr>
        <p:spPr>
          <a:xfrm>
            <a:off x="7730000" y="323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2400" b="1">
                <a:latin typeface="Arial"/>
                <a:solidFill>
                  <a:srgbClr val="486B51"/>
                </a:solidFill>
              </a:defRPr>
            </a:pPr>
            <a:r>
              <a:rPr lang="en-US" sz="2400" b="1">
                <a:latin typeface="Arial"/>
                <a:solidFill>
                  <a:srgbClr val="486B51"/>
                </a:solidFill>
              </a:rPr>
              <a:t>→</a:t>
            </a:r>
            <a:endParaRPr lang="en-US" sz="2400" b="1"/>
          </a:p>
        </p:txBody>
      </p:sp>
      <p:sp>
        <p:nvSpPr>
          <p:cNvPr id="165" name="shape165"/>
          <p:cNvSpPr/>
          <p:nvPr/>
        </p:nvSpPr>
        <p:spPr>
          <a:xfrm>
            <a:off x="700000" y="5900000"/>
            <a:ext cx="10790000" cy="420000"/>
          </a:xfrm>
          <a:prstGeom prst="roundRect">
            <a:avLst/>
          </a:prstGeom>
          <a:solidFill>
            <a:srgbClr val="E2DFD5"/>
          </a:solidFill>
          <a:ln w="900">
            <a:solidFill>
              <a:srgbClr val="AAA79E"/>
            </a:solidFill>
          </a:ln>
        </p:spPr>
      </p:sp>
      <p:sp>
        <p:nvSpPr>
          <p:cNvPr id="166" name="text166"/>
          <p:cNvSpPr/>
          <p:nvPr/>
        </p:nvSpPr>
        <p:spPr>
          <a:xfrm>
            <a:off x="900000" y="6020000"/>
            <a:ext cx="1039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900" b="1">
                <a:latin typeface="Arial"/>
                <a:solidFill>
                  <a:srgbClr val="272724"/>
                </a:solidFill>
              </a:defRPr>
            </a:pPr>
            <a:r>
              <a:rPr lang="en-US" sz="900" b="1">
                <a:latin typeface="Arial"/>
                <a:solidFill>
                  <a:srgbClr val="272724"/>
                </a:solidFill>
              </a:rPr>
              <a:t>PLANT PATH · one approved crop per request   |   WEED PATH · bounded JPEG samples, never a MediaStream; no overlap while Pi inference runs</a:t>
            </a:r>
            <a:endParaRPr lang="en-US" sz="900" b="1"/>
          </a:p>
        </p:txBody>
      </p:sp>
      <p:sp>
        <p:nvSpPr>
          <p:cNvPr id="167" name="shape167"/>
          <p:cNvSpPr/>
          <p:nvPr/>
        </p:nvSpPr>
        <p:spPr>
          <a:xfrm>
            <a:off x="500000" y="6500000"/>
            <a:ext cx="11200000" cy="2000"/>
          </a:xfrm>
          <a:prstGeom prst="rect">
            <a:avLst/>
          </a:prstGeom>
          <a:solidFill>
            <a:srgbClr val="AAA79E"/>
          </a:solidFill>
          <a:ln>
            <a:noFill/>
          </a:ln>
        </p:spPr>
      </p:sp>
      <p:sp>
        <p:nvSpPr>
          <p:cNvPr id="168" name="text168"/>
          <p:cNvSpPr/>
          <p:nvPr/>
        </p:nvSpPr>
        <p:spPr>
          <a:xfrm>
            <a:off x="500000" y="6550000"/>
            <a:ext cx="95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800" b="1">
                <a:latin typeface="Arial"/>
                <a:solidFill>
                  <a:srgbClr val="85827B"/>
                </a:solidFill>
              </a:defRPr>
            </a:pPr>
            <a:r>
              <a:rPr lang="en-US" sz="800" b="1">
                <a:latin typeface="Arial"/>
                <a:solidFill>
                  <a:srgbClr val="85827B"/>
                </a:solidFill>
              </a:rPr>
              <a:t>BOTANIKA  ·  GEG XR HACKATHON 2026  ·  LOCAL-FIRST FIELD INTELLIGENCE</a:t>
            </a:r>
            <a:endParaRPr lang="en-US" sz="800" b="1"/>
          </a:p>
        </p:txBody>
      </p:sp>
      <p:sp>
        <p:nvSpPr>
          <p:cNvPr id="169" name="text169"/>
          <p:cNvSpPr/>
          <p:nvPr/>
        </p:nvSpPr>
        <p:spPr>
          <a:xfrm>
            <a:off x="11250000" y="6550000"/>
            <a:ext cx="4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r">
              <a:defRPr sz="900" b="1">
                <a:latin typeface="Arial"/>
                <a:solidFill>
                  <a:srgbClr val="486B51"/>
                </a:solidFill>
              </a:defRPr>
            </a:pPr>
            <a:r>
              <a:rPr lang="en-US" sz="900" b="1">
                <a:latin typeface="Arial"/>
                <a:solidFill>
                  <a:srgbClr val="486B51"/>
                </a:solidFill>
              </a:rPr>
              <a:t>03</a:t>
            </a:r>
            <a:endParaRPr lang="en-US" sz="9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tanika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3"/>
          </a:solidFill>
          <a:ln>
            <a:noFill/>
          </a:ln>
        </p:spPr>
      </p:sp>
      <p:sp>
        <p:nvSpPr>
          <p:cNvPr id="101" name="shape101"/>
          <p:cNvSpPr/>
          <p:nvPr/>
        </p:nvSpPr>
        <p:spPr>
          <a:xfrm>
            <a:off x="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2" name="shape102"/>
          <p:cNvSpPr/>
          <p:nvPr/>
        </p:nvSpPr>
        <p:spPr>
          <a:xfrm>
            <a:off x="4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3" name="shape103"/>
          <p:cNvSpPr/>
          <p:nvPr/>
        </p:nvSpPr>
        <p:spPr>
          <a:xfrm>
            <a:off x="8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4" name="shape104"/>
          <p:cNvSpPr/>
          <p:nvPr/>
        </p:nvSpPr>
        <p:spPr>
          <a:xfrm>
            <a:off x="12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5" name="shape105"/>
          <p:cNvSpPr/>
          <p:nvPr/>
        </p:nvSpPr>
        <p:spPr>
          <a:xfrm>
            <a:off x="16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6" name="shape106"/>
          <p:cNvSpPr/>
          <p:nvPr/>
        </p:nvSpPr>
        <p:spPr>
          <a:xfrm>
            <a:off x="21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7" name="shape107"/>
          <p:cNvSpPr/>
          <p:nvPr/>
        </p:nvSpPr>
        <p:spPr>
          <a:xfrm>
            <a:off x="25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8" name="shape108"/>
          <p:cNvSpPr/>
          <p:nvPr/>
        </p:nvSpPr>
        <p:spPr>
          <a:xfrm>
            <a:off x="29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9" name="shape109"/>
          <p:cNvSpPr/>
          <p:nvPr/>
        </p:nvSpPr>
        <p:spPr>
          <a:xfrm>
            <a:off x="33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0" name="shape110"/>
          <p:cNvSpPr/>
          <p:nvPr/>
        </p:nvSpPr>
        <p:spPr>
          <a:xfrm>
            <a:off x="37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1" name="shape111"/>
          <p:cNvSpPr/>
          <p:nvPr/>
        </p:nvSpPr>
        <p:spPr>
          <a:xfrm>
            <a:off x="42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2" name="shape112"/>
          <p:cNvSpPr/>
          <p:nvPr/>
        </p:nvSpPr>
        <p:spPr>
          <a:xfrm>
            <a:off x="46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3" name="shape113"/>
          <p:cNvSpPr/>
          <p:nvPr/>
        </p:nvSpPr>
        <p:spPr>
          <a:xfrm>
            <a:off x="50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4" name="shape114"/>
          <p:cNvSpPr/>
          <p:nvPr/>
        </p:nvSpPr>
        <p:spPr>
          <a:xfrm>
            <a:off x="54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5" name="shape115"/>
          <p:cNvSpPr/>
          <p:nvPr/>
        </p:nvSpPr>
        <p:spPr>
          <a:xfrm>
            <a:off x="58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6" name="shape116"/>
          <p:cNvSpPr/>
          <p:nvPr/>
        </p:nvSpPr>
        <p:spPr>
          <a:xfrm>
            <a:off x="63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7" name="shape117"/>
          <p:cNvSpPr/>
          <p:nvPr/>
        </p:nvSpPr>
        <p:spPr>
          <a:xfrm>
            <a:off x="67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8" name="shape118"/>
          <p:cNvSpPr/>
          <p:nvPr/>
        </p:nvSpPr>
        <p:spPr>
          <a:xfrm>
            <a:off x="71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9" name="shape119"/>
          <p:cNvSpPr/>
          <p:nvPr/>
        </p:nvSpPr>
        <p:spPr>
          <a:xfrm>
            <a:off x="75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0" name="shape120"/>
          <p:cNvSpPr/>
          <p:nvPr/>
        </p:nvSpPr>
        <p:spPr>
          <a:xfrm>
            <a:off x="79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1" name="shape121"/>
          <p:cNvSpPr/>
          <p:nvPr/>
        </p:nvSpPr>
        <p:spPr>
          <a:xfrm>
            <a:off x="84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2" name="shape122"/>
          <p:cNvSpPr/>
          <p:nvPr/>
        </p:nvSpPr>
        <p:spPr>
          <a:xfrm>
            <a:off x="88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3" name="shape123"/>
          <p:cNvSpPr/>
          <p:nvPr/>
        </p:nvSpPr>
        <p:spPr>
          <a:xfrm>
            <a:off x="92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4" name="shape124"/>
          <p:cNvSpPr/>
          <p:nvPr/>
        </p:nvSpPr>
        <p:spPr>
          <a:xfrm>
            <a:off x="96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5" name="shape125"/>
          <p:cNvSpPr/>
          <p:nvPr/>
        </p:nvSpPr>
        <p:spPr>
          <a:xfrm>
            <a:off x="100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6" name="shape126"/>
          <p:cNvSpPr/>
          <p:nvPr/>
        </p:nvSpPr>
        <p:spPr>
          <a:xfrm>
            <a:off x="105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7" name="shape127"/>
          <p:cNvSpPr/>
          <p:nvPr/>
        </p:nvSpPr>
        <p:spPr>
          <a:xfrm>
            <a:off x="109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8" name="shape128"/>
          <p:cNvSpPr/>
          <p:nvPr/>
        </p:nvSpPr>
        <p:spPr>
          <a:xfrm>
            <a:off x="113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9" name="shape129"/>
          <p:cNvSpPr/>
          <p:nvPr/>
        </p:nvSpPr>
        <p:spPr>
          <a:xfrm>
            <a:off x="117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0" name="shape130"/>
          <p:cNvSpPr/>
          <p:nvPr/>
        </p:nvSpPr>
        <p:spPr>
          <a:xfrm>
            <a:off x="121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1" name="shape131"/>
          <p:cNvSpPr/>
          <p:nvPr/>
        </p:nvSpPr>
        <p:spPr>
          <a:xfrm>
            <a:off x="0" y="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2" name="shape132"/>
          <p:cNvSpPr/>
          <p:nvPr/>
        </p:nvSpPr>
        <p:spPr>
          <a:xfrm>
            <a:off x="0" y="4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3" name="shape133"/>
          <p:cNvSpPr/>
          <p:nvPr/>
        </p:nvSpPr>
        <p:spPr>
          <a:xfrm>
            <a:off x="0" y="8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4" name="shape134"/>
          <p:cNvSpPr/>
          <p:nvPr/>
        </p:nvSpPr>
        <p:spPr>
          <a:xfrm>
            <a:off x="0" y="12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5" name="shape135"/>
          <p:cNvSpPr/>
          <p:nvPr/>
        </p:nvSpPr>
        <p:spPr>
          <a:xfrm>
            <a:off x="0" y="16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6" name="shape136"/>
          <p:cNvSpPr/>
          <p:nvPr/>
        </p:nvSpPr>
        <p:spPr>
          <a:xfrm>
            <a:off x="0" y="21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7" name="shape137"/>
          <p:cNvSpPr/>
          <p:nvPr/>
        </p:nvSpPr>
        <p:spPr>
          <a:xfrm>
            <a:off x="0" y="25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8" name="shape138"/>
          <p:cNvSpPr/>
          <p:nvPr/>
        </p:nvSpPr>
        <p:spPr>
          <a:xfrm>
            <a:off x="0" y="29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9" name="shape139"/>
          <p:cNvSpPr/>
          <p:nvPr/>
        </p:nvSpPr>
        <p:spPr>
          <a:xfrm>
            <a:off x="0" y="33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0" name="shape140"/>
          <p:cNvSpPr/>
          <p:nvPr/>
        </p:nvSpPr>
        <p:spPr>
          <a:xfrm>
            <a:off x="0" y="37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1" name="shape141"/>
          <p:cNvSpPr/>
          <p:nvPr/>
        </p:nvSpPr>
        <p:spPr>
          <a:xfrm>
            <a:off x="0" y="42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2" name="shape142"/>
          <p:cNvSpPr/>
          <p:nvPr/>
        </p:nvSpPr>
        <p:spPr>
          <a:xfrm>
            <a:off x="0" y="46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3" name="shape143"/>
          <p:cNvSpPr/>
          <p:nvPr/>
        </p:nvSpPr>
        <p:spPr>
          <a:xfrm>
            <a:off x="0" y="50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4" name="shape144"/>
          <p:cNvSpPr/>
          <p:nvPr/>
        </p:nvSpPr>
        <p:spPr>
          <a:xfrm>
            <a:off x="0" y="54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5" name="shape145"/>
          <p:cNvSpPr/>
          <p:nvPr/>
        </p:nvSpPr>
        <p:spPr>
          <a:xfrm>
            <a:off x="0" y="58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6" name="shape146"/>
          <p:cNvSpPr/>
          <p:nvPr/>
        </p:nvSpPr>
        <p:spPr>
          <a:xfrm>
            <a:off x="0" y="63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7" name="shape147"/>
          <p:cNvSpPr/>
          <p:nvPr/>
        </p:nvSpPr>
        <p:spPr>
          <a:xfrm>
            <a:off x="0" y="67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8" name="text148"/>
          <p:cNvSpPr/>
          <p:nvPr/>
        </p:nvSpPr>
        <p:spPr>
          <a:xfrm>
            <a:off x="600000" y="480000"/>
            <a:ext cx="4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03  ·  LIVE CROSS-NETWORK EVIDENCE</a:t>
            </a:r>
            <a:endParaRPr lang="en-US" sz="1000" b="1"/>
          </a:p>
        </p:txBody>
      </p:sp>
      <p:sp>
        <p:nvSpPr>
          <p:cNvPr id="149" name="text149"/>
          <p:cNvSpPr/>
          <p:nvPr/>
        </p:nvSpPr>
        <p:spPr>
          <a:xfrm>
            <a:off x="600000" y="780000"/>
            <a:ext cx="10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3100" b="1">
                <a:latin typeface="Georgia"/>
                <a:solidFill>
                  <a:srgbClr val="272724"/>
                </a:solidFill>
              </a:defRPr>
            </a:pPr>
            <a:r>
              <a:rPr lang="en-US" sz="3100" b="1">
                <a:latin typeface="Georgia"/>
                <a:solidFill>
                  <a:srgbClr val="272724"/>
                </a:solidFill>
              </a:rPr>
              <a:t>The remote phone ↔ Pi path is visible in the test captures</a:t>
            </a:r>
            <a:endParaRPr lang="en-US" sz="3100" b="1"/>
          </a:p>
        </p:txBody>
      </p:sp>
      <p:sp>
        <p:nvSpPr>
          <p:cNvPr id="150" name="text150"/>
          <p:cNvSpPr/>
          <p:nvPr/>
        </p:nvSpPr>
        <p:spPr>
          <a:xfrm>
            <a:off x="600000" y="1350000"/>
            <a:ext cx="107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500">
                <a:latin typeface="Arial"/>
                <a:solidFill>
                  <a:srgbClr val="5F5E59"/>
                </a:solidFill>
              </a:defRPr>
            </a:pPr>
            <a:r>
              <a:rPr lang="en-US" sz="1500">
                <a:latin typeface="Arial"/>
                <a:solidFill>
                  <a:srgbClr val="5F5E59"/>
                </a:solidFill>
              </a:rPr>
              <a:t>Real handset screenshots show the temporary HTTPS origin, pairing, crop handoff, honest abstention, and the separate weed-beta response.</a:t>
            </a:r>
            <a:endParaRPr lang="en-US" sz="1500"/>
          </a:p>
        </p:txBody>
      </p:sp>
      <p:sp>
        <p:nvSpPr>
          <p:cNvPr id="151" name="shape151"/>
          <p:cNvSpPr/>
          <p:nvPr/>
        </p:nvSpPr>
        <p:spPr>
          <a:xfrm>
            <a:off x="620000" y="1870000"/>
            <a:ext cx="2410000" cy="3610000"/>
          </a:xfrm>
          <a:prstGeom prst="rect">
            <a:avLst/>
          </a:prstGeom>
          <a:solidFill>
            <a:srgbClr val="272724"/>
          </a:solidFill>
          <a:ln w="900">
            <a:solidFill>
              <a:srgbClr val="272724"/>
            </a:solidFill>
          </a:ln>
        </p:spPr>
      </p:sp>
      <p:pic>
        <p:nvPicPr>
          <p:cNvPr id="252" name="WhatsApp Image 2026-09-06 at 7.12.34 PM.jpe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026250" y="1900000"/>
            <a:ext cx="1597500" cy="3550000"/>
          </a:xfrm>
          <a:prstGeom prst="rect">
            <a:avLst/>
          </a:prstGeom>
        </p:spPr>
      </p:pic>
      <p:sp>
        <p:nvSpPr>
          <p:cNvPr id="153" name="text153"/>
          <p:cNvSpPr/>
          <p:nvPr/>
        </p:nvSpPr>
        <p:spPr>
          <a:xfrm>
            <a:off x="650000" y="5550000"/>
            <a:ext cx="235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1 · PAIR</a:t>
            </a:r>
            <a:endParaRPr lang="en-US" sz="1000" b="1"/>
          </a:p>
        </p:txBody>
      </p:sp>
      <p:sp>
        <p:nvSpPr>
          <p:cNvPr id="154" name="text154"/>
          <p:cNvSpPr/>
          <p:nvPr/>
        </p:nvSpPr>
        <p:spPr>
          <a:xfrm>
            <a:off x="650000" y="5800000"/>
            <a:ext cx="23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1000">
                <a:latin typeface="Arial"/>
                <a:solidFill>
                  <a:srgbClr val="5F5E59"/>
                </a:solidFill>
              </a:defRPr>
            </a:pPr>
            <a:r>
              <a:rPr lang="en-US" sz="1000">
                <a:latin typeface="Arial"/>
                <a:solidFill>
                  <a:srgbClr val="5F5E59"/>
                </a:solidFill>
              </a:rPr>
              <a:t>Temporary HTTPS + one-time code</a:t>
            </a:r>
            <a:endParaRPr lang="en-US" sz="1000"/>
          </a:p>
        </p:txBody>
      </p:sp>
      <p:sp>
        <p:nvSpPr>
          <p:cNvPr id="155" name="shape155"/>
          <p:cNvSpPr/>
          <p:nvPr/>
        </p:nvSpPr>
        <p:spPr>
          <a:xfrm>
            <a:off x="3440000" y="1870000"/>
            <a:ext cx="2410000" cy="3610000"/>
          </a:xfrm>
          <a:prstGeom prst="rect">
            <a:avLst/>
          </a:prstGeom>
          <a:solidFill>
            <a:srgbClr val="272724"/>
          </a:solidFill>
          <a:ln w="900">
            <a:solidFill>
              <a:srgbClr val="272724"/>
            </a:solidFill>
          </a:ln>
        </p:spPr>
      </p:sp>
      <p:pic>
        <p:nvPicPr>
          <p:cNvPr id="256" name="WhatsApp Image 2026-09-06 at 8.59.56 PM (2).jpe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46250" y="1900000"/>
            <a:ext cx="1597500" cy="3550000"/>
          </a:xfrm>
          <a:prstGeom prst="rect">
            <a:avLst/>
          </a:prstGeom>
        </p:spPr>
      </p:pic>
      <p:sp>
        <p:nvSpPr>
          <p:cNvPr id="157" name="text157"/>
          <p:cNvSpPr/>
          <p:nvPr/>
        </p:nvSpPr>
        <p:spPr>
          <a:xfrm>
            <a:off x="3470000" y="5550000"/>
            <a:ext cx="235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2 · SEND CROP</a:t>
            </a:r>
            <a:endParaRPr lang="en-US" sz="1000" b="1"/>
          </a:p>
        </p:txBody>
      </p:sp>
      <p:sp>
        <p:nvSpPr>
          <p:cNvPr id="158" name="text158"/>
          <p:cNvSpPr/>
          <p:nvPr/>
        </p:nvSpPr>
        <p:spPr>
          <a:xfrm>
            <a:off x="3470000" y="5800000"/>
            <a:ext cx="23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1000">
                <a:latin typeface="Arial"/>
                <a:solidFill>
                  <a:srgbClr val="5F5E59"/>
                </a:solidFill>
              </a:defRPr>
            </a:pPr>
            <a:r>
              <a:rPr lang="en-US" sz="1000">
                <a:latin typeface="Arial"/>
                <a:solidFill>
                  <a:srgbClr val="5F5E59"/>
                </a:solidFill>
              </a:rPr>
              <a:t>Local checks pass before upload</a:t>
            </a:r>
            <a:endParaRPr lang="en-US" sz="1000"/>
          </a:p>
        </p:txBody>
      </p:sp>
      <p:sp>
        <p:nvSpPr>
          <p:cNvPr id="159" name="shape159"/>
          <p:cNvSpPr/>
          <p:nvPr/>
        </p:nvSpPr>
        <p:spPr>
          <a:xfrm>
            <a:off x="6260000" y="1870000"/>
            <a:ext cx="2410000" cy="3610000"/>
          </a:xfrm>
          <a:prstGeom prst="rect">
            <a:avLst/>
          </a:prstGeom>
          <a:solidFill>
            <a:srgbClr val="272724"/>
          </a:solidFill>
          <a:ln w="900">
            <a:solidFill>
              <a:srgbClr val="272724"/>
            </a:solidFill>
          </a:ln>
        </p:spPr>
      </p:sp>
      <p:pic>
        <p:nvPicPr>
          <p:cNvPr id="260" name="WhatsApp Image 2026-09-06 at 8.59.55 PM (1).jpeg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666250" y="1900000"/>
            <a:ext cx="1597500" cy="3550000"/>
          </a:xfrm>
          <a:prstGeom prst="rect">
            <a:avLst/>
          </a:prstGeom>
        </p:spPr>
      </p:pic>
      <p:sp>
        <p:nvSpPr>
          <p:cNvPr id="161" name="text161"/>
          <p:cNvSpPr/>
          <p:nvPr/>
        </p:nvSpPr>
        <p:spPr>
          <a:xfrm>
            <a:off x="6290000" y="5550000"/>
            <a:ext cx="235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3 · PI RESPONSE</a:t>
            </a:r>
            <a:endParaRPr lang="en-US" sz="1000" b="1"/>
          </a:p>
        </p:txBody>
      </p:sp>
      <p:sp>
        <p:nvSpPr>
          <p:cNvPr id="162" name="text162"/>
          <p:cNvSpPr/>
          <p:nvPr/>
        </p:nvSpPr>
        <p:spPr>
          <a:xfrm>
            <a:off x="6290000" y="5800000"/>
            <a:ext cx="23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1000">
                <a:latin typeface="Arial"/>
                <a:solidFill>
                  <a:srgbClr val="5F5E59"/>
                </a:solidFill>
              </a:defRPr>
            </a:pPr>
            <a:r>
              <a:rPr lang="en-US" sz="1000">
                <a:latin typeface="Arial"/>
                <a:solidFill>
                  <a:srgbClr val="5F5E59"/>
                </a:solidFill>
              </a:rPr>
              <a:t>Low confidence remains unsaved</a:t>
            </a:r>
            <a:endParaRPr lang="en-US" sz="1000"/>
          </a:p>
        </p:txBody>
      </p:sp>
      <p:sp>
        <p:nvSpPr>
          <p:cNvPr id="163" name="shape163"/>
          <p:cNvSpPr/>
          <p:nvPr/>
        </p:nvSpPr>
        <p:spPr>
          <a:xfrm>
            <a:off x="9080000" y="1870000"/>
            <a:ext cx="2410000" cy="3610000"/>
          </a:xfrm>
          <a:prstGeom prst="rect">
            <a:avLst/>
          </a:prstGeom>
          <a:solidFill>
            <a:srgbClr val="272724"/>
          </a:solidFill>
          <a:ln w="900">
            <a:solidFill>
              <a:srgbClr val="272724"/>
            </a:solidFill>
          </a:ln>
        </p:spPr>
      </p:sp>
      <p:pic>
        <p:nvPicPr>
          <p:cNvPr id="264" name="WhatsApp Image 2026-09-06 at 7.12.37 PM (1).jpeg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9486250" y="1900000"/>
            <a:ext cx="1597500" cy="3550000"/>
          </a:xfrm>
          <a:prstGeom prst="rect">
            <a:avLst/>
          </a:prstGeom>
        </p:spPr>
      </p:pic>
      <p:sp>
        <p:nvSpPr>
          <p:cNvPr id="165" name="text165"/>
          <p:cNvSpPr/>
          <p:nvPr/>
        </p:nvSpPr>
        <p:spPr>
          <a:xfrm>
            <a:off x="9110000" y="5550000"/>
            <a:ext cx="235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1000" b="1">
                <a:latin typeface="Arial"/>
                <a:solidFill>
                  <a:srgbClr val="8A692E"/>
                </a:solidFill>
              </a:defRPr>
            </a:pPr>
            <a:r>
              <a:rPr lang="en-US" sz="1000" b="1">
                <a:latin typeface="Arial"/>
                <a:solidFill>
                  <a:srgbClr val="8A692E"/>
                </a:solidFill>
              </a:rPr>
              <a:t>4 · WEED BETA</a:t>
            </a:r>
            <a:endParaRPr lang="en-US" sz="1000" b="1"/>
          </a:p>
        </p:txBody>
      </p:sp>
      <p:sp>
        <p:nvSpPr>
          <p:cNvPr id="166" name="text166"/>
          <p:cNvSpPr/>
          <p:nvPr/>
        </p:nvSpPr>
        <p:spPr>
          <a:xfrm>
            <a:off x="9110000" y="5800000"/>
            <a:ext cx="23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1000">
                <a:latin typeface="Arial"/>
                <a:solidFill>
                  <a:srgbClr val="5F5E59"/>
                </a:solidFill>
              </a:defRPr>
            </a:pPr>
            <a:r>
              <a:rPr lang="en-US" sz="1000">
                <a:latin typeface="Arial"/>
                <a:solidFill>
                  <a:srgbClr val="5F5E59"/>
                </a:solidFill>
              </a:rPr>
              <a:t>Boxes returned; image discarded</a:t>
            </a:r>
            <a:endParaRPr lang="en-US" sz="1000"/>
          </a:p>
        </p:txBody>
      </p:sp>
      <p:sp>
        <p:nvSpPr>
          <p:cNvPr id="167" name="text167"/>
          <p:cNvSpPr/>
          <p:nvPr/>
        </p:nvSpPr>
        <p:spPr>
          <a:xfrm>
            <a:off x="600000" y="6180000"/>
            <a:ext cx="1095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1000" b="1">
                <a:latin typeface="Arial"/>
                <a:solidFill>
                  <a:srgbClr val="8B3028"/>
                </a:solidFill>
              </a:defRPr>
            </a:pPr>
            <a:r>
              <a:rPr lang="en-US" sz="1000" b="1">
                <a:latin typeface="Arial"/>
                <a:solidFill>
                  <a:srgbClr val="8B3028"/>
                </a:solidFill>
              </a:rPr>
              <a:t>Evidence boundary · these captures prove the live interaction path; they do not claim production-grade species accuracy.</a:t>
            </a:r>
            <a:endParaRPr lang="en-US" sz="1000" b="1"/>
          </a:p>
        </p:txBody>
      </p:sp>
      <p:sp>
        <p:nvSpPr>
          <p:cNvPr id="168" name="shape168"/>
          <p:cNvSpPr/>
          <p:nvPr/>
        </p:nvSpPr>
        <p:spPr>
          <a:xfrm>
            <a:off x="500000" y="6500000"/>
            <a:ext cx="11200000" cy="2000"/>
          </a:xfrm>
          <a:prstGeom prst="rect">
            <a:avLst/>
          </a:prstGeom>
          <a:solidFill>
            <a:srgbClr val="AAA79E"/>
          </a:solidFill>
          <a:ln>
            <a:noFill/>
          </a:ln>
        </p:spPr>
      </p:sp>
      <p:sp>
        <p:nvSpPr>
          <p:cNvPr id="169" name="text169"/>
          <p:cNvSpPr/>
          <p:nvPr/>
        </p:nvSpPr>
        <p:spPr>
          <a:xfrm>
            <a:off x="500000" y="6550000"/>
            <a:ext cx="95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800" b="1">
                <a:latin typeface="Arial"/>
                <a:solidFill>
                  <a:srgbClr val="85827B"/>
                </a:solidFill>
              </a:defRPr>
            </a:pPr>
            <a:r>
              <a:rPr lang="en-US" sz="800" b="1">
                <a:latin typeface="Arial"/>
                <a:solidFill>
                  <a:srgbClr val="85827B"/>
                </a:solidFill>
              </a:rPr>
              <a:t>BOTANIKA  ·  GEG XR HACKATHON 2026  ·  LOCAL-FIRST FIELD INTELLIGENCE</a:t>
            </a:r>
            <a:endParaRPr lang="en-US" sz="800" b="1"/>
          </a:p>
        </p:txBody>
      </p:sp>
      <p:sp>
        <p:nvSpPr>
          <p:cNvPr id="170" name="text170"/>
          <p:cNvSpPr/>
          <p:nvPr/>
        </p:nvSpPr>
        <p:spPr>
          <a:xfrm>
            <a:off x="11250000" y="6550000"/>
            <a:ext cx="4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r">
              <a:defRPr sz="900" b="1">
                <a:latin typeface="Arial"/>
                <a:solidFill>
                  <a:srgbClr val="486B51"/>
                </a:solidFill>
              </a:defRPr>
            </a:pPr>
            <a:r>
              <a:rPr lang="en-US" sz="900" b="1">
                <a:latin typeface="Arial"/>
                <a:solidFill>
                  <a:srgbClr val="486B51"/>
                </a:solidFill>
              </a:rPr>
              <a:t>04</a:t>
            </a:r>
            <a:endParaRPr lang="en-US" sz="9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tanika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3"/>
          </a:solidFill>
          <a:ln>
            <a:noFill/>
          </a:ln>
        </p:spPr>
      </p:sp>
      <p:sp>
        <p:nvSpPr>
          <p:cNvPr id="101" name="shape101"/>
          <p:cNvSpPr/>
          <p:nvPr/>
        </p:nvSpPr>
        <p:spPr>
          <a:xfrm>
            <a:off x="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2" name="shape102"/>
          <p:cNvSpPr/>
          <p:nvPr/>
        </p:nvSpPr>
        <p:spPr>
          <a:xfrm>
            <a:off x="4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3" name="shape103"/>
          <p:cNvSpPr/>
          <p:nvPr/>
        </p:nvSpPr>
        <p:spPr>
          <a:xfrm>
            <a:off x="8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4" name="shape104"/>
          <p:cNvSpPr/>
          <p:nvPr/>
        </p:nvSpPr>
        <p:spPr>
          <a:xfrm>
            <a:off x="12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5" name="shape105"/>
          <p:cNvSpPr/>
          <p:nvPr/>
        </p:nvSpPr>
        <p:spPr>
          <a:xfrm>
            <a:off x="16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6" name="shape106"/>
          <p:cNvSpPr/>
          <p:nvPr/>
        </p:nvSpPr>
        <p:spPr>
          <a:xfrm>
            <a:off x="21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7" name="shape107"/>
          <p:cNvSpPr/>
          <p:nvPr/>
        </p:nvSpPr>
        <p:spPr>
          <a:xfrm>
            <a:off x="25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8" name="shape108"/>
          <p:cNvSpPr/>
          <p:nvPr/>
        </p:nvSpPr>
        <p:spPr>
          <a:xfrm>
            <a:off x="29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9" name="shape109"/>
          <p:cNvSpPr/>
          <p:nvPr/>
        </p:nvSpPr>
        <p:spPr>
          <a:xfrm>
            <a:off x="33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0" name="shape110"/>
          <p:cNvSpPr/>
          <p:nvPr/>
        </p:nvSpPr>
        <p:spPr>
          <a:xfrm>
            <a:off x="37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1" name="shape111"/>
          <p:cNvSpPr/>
          <p:nvPr/>
        </p:nvSpPr>
        <p:spPr>
          <a:xfrm>
            <a:off x="42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2" name="shape112"/>
          <p:cNvSpPr/>
          <p:nvPr/>
        </p:nvSpPr>
        <p:spPr>
          <a:xfrm>
            <a:off x="46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3" name="shape113"/>
          <p:cNvSpPr/>
          <p:nvPr/>
        </p:nvSpPr>
        <p:spPr>
          <a:xfrm>
            <a:off x="50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4" name="shape114"/>
          <p:cNvSpPr/>
          <p:nvPr/>
        </p:nvSpPr>
        <p:spPr>
          <a:xfrm>
            <a:off x="54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5" name="shape115"/>
          <p:cNvSpPr/>
          <p:nvPr/>
        </p:nvSpPr>
        <p:spPr>
          <a:xfrm>
            <a:off x="58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6" name="shape116"/>
          <p:cNvSpPr/>
          <p:nvPr/>
        </p:nvSpPr>
        <p:spPr>
          <a:xfrm>
            <a:off x="63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7" name="shape117"/>
          <p:cNvSpPr/>
          <p:nvPr/>
        </p:nvSpPr>
        <p:spPr>
          <a:xfrm>
            <a:off x="67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8" name="shape118"/>
          <p:cNvSpPr/>
          <p:nvPr/>
        </p:nvSpPr>
        <p:spPr>
          <a:xfrm>
            <a:off x="71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9" name="shape119"/>
          <p:cNvSpPr/>
          <p:nvPr/>
        </p:nvSpPr>
        <p:spPr>
          <a:xfrm>
            <a:off x="75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0" name="shape120"/>
          <p:cNvSpPr/>
          <p:nvPr/>
        </p:nvSpPr>
        <p:spPr>
          <a:xfrm>
            <a:off x="79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1" name="shape121"/>
          <p:cNvSpPr/>
          <p:nvPr/>
        </p:nvSpPr>
        <p:spPr>
          <a:xfrm>
            <a:off x="84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2" name="shape122"/>
          <p:cNvSpPr/>
          <p:nvPr/>
        </p:nvSpPr>
        <p:spPr>
          <a:xfrm>
            <a:off x="88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3" name="shape123"/>
          <p:cNvSpPr/>
          <p:nvPr/>
        </p:nvSpPr>
        <p:spPr>
          <a:xfrm>
            <a:off x="92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4" name="shape124"/>
          <p:cNvSpPr/>
          <p:nvPr/>
        </p:nvSpPr>
        <p:spPr>
          <a:xfrm>
            <a:off x="96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5" name="shape125"/>
          <p:cNvSpPr/>
          <p:nvPr/>
        </p:nvSpPr>
        <p:spPr>
          <a:xfrm>
            <a:off x="100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6" name="shape126"/>
          <p:cNvSpPr/>
          <p:nvPr/>
        </p:nvSpPr>
        <p:spPr>
          <a:xfrm>
            <a:off x="105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7" name="shape127"/>
          <p:cNvSpPr/>
          <p:nvPr/>
        </p:nvSpPr>
        <p:spPr>
          <a:xfrm>
            <a:off x="109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8" name="shape128"/>
          <p:cNvSpPr/>
          <p:nvPr/>
        </p:nvSpPr>
        <p:spPr>
          <a:xfrm>
            <a:off x="113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9" name="shape129"/>
          <p:cNvSpPr/>
          <p:nvPr/>
        </p:nvSpPr>
        <p:spPr>
          <a:xfrm>
            <a:off x="117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0" name="shape130"/>
          <p:cNvSpPr/>
          <p:nvPr/>
        </p:nvSpPr>
        <p:spPr>
          <a:xfrm>
            <a:off x="121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1" name="shape131"/>
          <p:cNvSpPr/>
          <p:nvPr/>
        </p:nvSpPr>
        <p:spPr>
          <a:xfrm>
            <a:off x="0" y="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2" name="shape132"/>
          <p:cNvSpPr/>
          <p:nvPr/>
        </p:nvSpPr>
        <p:spPr>
          <a:xfrm>
            <a:off x="0" y="4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3" name="shape133"/>
          <p:cNvSpPr/>
          <p:nvPr/>
        </p:nvSpPr>
        <p:spPr>
          <a:xfrm>
            <a:off x="0" y="8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4" name="shape134"/>
          <p:cNvSpPr/>
          <p:nvPr/>
        </p:nvSpPr>
        <p:spPr>
          <a:xfrm>
            <a:off x="0" y="12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5" name="shape135"/>
          <p:cNvSpPr/>
          <p:nvPr/>
        </p:nvSpPr>
        <p:spPr>
          <a:xfrm>
            <a:off x="0" y="16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6" name="shape136"/>
          <p:cNvSpPr/>
          <p:nvPr/>
        </p:nvSpPr>
        <p:spPr>
          <a:xfrm>
            <a:off x="0" y="21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7" name="shape137"/>
          <p:cNvSpPr/>
          <p:nvPr/>
        </p:nvSpPr>
        <p:spPr>
          <a:xfrm>
            <a:off x="0" y="25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8" name="shape138"/>
          <p:cNvSpPr/>
          <p:nvPr/>
        </p:nvSpPr>
        <p:spPr>
          <a:xfrm>
            <a:off x="0" y="29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9" name="shape139"/>
          <p:cNvSpPr/>
          <p:nvPr/>
        </p:nvSpPr>
        <p:spPr>
          <a:xfrm>
            <a:off x="0" y="33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0" name="shape140"/>
          <p:cNvSpPr/>
          <p:nvPr/>
        </p:nvSpPr>
        <p:spPr>
          <a:xfrm>
            <a:off x="0" y="37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1" name="shape141"/>
          <p:cNvSpPr/>
          <p:nvPr/>
        </p:nvSpPr>
        <p:spPr>
          <a:xfrm>
            <a:off x="0" y="42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2" name="shape142"/>
          <p:cNvSpPr/>
          <p:nvPr/>
        </p:nvSpPr>
        <p:spPr>
          <a:xfrm>
            <a:off x="0" y="46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3" name="shape143"/>
          <p:cNvSpPr/>
          <p:nvPr/>
        </p:nvSpPr>
        <p:spPr>
          <a:xfrm>
            <a:off x="0" y="50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4" name="shape144"/>
          <p:cNvSpPr/>
          <p:nvPr/>
        </p:nvSpPr>
        <p:spPr>
          <a:xfrm>
            <a:off x="0" y="54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5" name="shape145"/>
          <p:cNvSpPr/>
          <p:nvPr/>
        </p:nvSpPr>
        <p:spPr>
          <a:xfrm>
            <a:off x="0" y="58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6" name="shape146"/>
          <p:cNvSpPr/>
          <p:nvPr/>
        </p:nvSpPr>
        <p:spPr>
          <a:xfrm>
            <a:off x="0" y="63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7" name="shape147"/>
          <p:cNvSpPr/>
          <p:nvPr/>
        </p:nvSpPr>
        <p:spPr>
          <a:xfrm>
            <a:off x="0" y="67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8" name="text148"/>
          <p:cNvSpPr/>
          <p:nvPr/>
        </p:nvSpPr>
        <p:spPr>
          <a:xfrm>
            <a:off x="600000" y="480000"/>
            <a:ext cx="4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04  ·  LIGHTWEIGHT BY DESIGN</a:t>
            </a:r>
            <a:endParaRPr lang="en-US" sz="1000" b="1"/>
          </a:p>
        </p:txBody>
      </p:sp>
      <p:sp>
        <p:nvSpPr>
          <p:cNvPr id="149" name="text149"/>
          <p:cNvSpPr/>
          <p:nvPr/>
        </p:nvSpPr>
        <p:spPr>
          <a:xfrm>
            <a:off x="600000" y="780000"/>
            <a:ext cx="9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3100" b="1">
                <a:latin typeface="Georgia"/>
                <a:solidFill>
                  <a:srgbClr val="272724"/>
                </a:solidFill>
              </a:defRPr>
            </a:pPr>
            <a:r>
              <a:rPr lang="en-US" sz="3100" b="1">
                <a:latin typeface="Georgia"/>
                <a:solidFill>
                  <a:srgbClr val="272724"/>
                </a:solidFill>
              </a:rPr>
              <a:t>The user carries a camera and a webpage—not the AI stack</a:t>
            </a:r>
            <a:endParaRPr lang="en-US" sz="3100" b="1"/>
          </a:p>
        </p:txBody>
      </p:sp>
      <p:sp>
        <p:nvSpPr>
          <p:cNvPr id="150" name="shape150"/>
          <p:cNvSpPr/>
          <p:nvPr/>
        </p:nvSpPr>
        <p:spPr>
          <a:xfrm>
            <a:off x="600000" y="1720000"/>
            <a:ext cx="5200000" cy="392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486B51"/>
            </a:solidFill>
          </a:ln>
        </p:spPr>
      </p:sp>
      <p:sp>
        <p:nvSpPr>
          <p:cNvPr id="151" name="text151"/>
          <p:cNvSpPr/>
          <p:nvPr/>
        </p:nvSpPr>
        <p:spPr>
          <a:xfrm>
            <a:off x="900000" y="2020000"/>
            <a:ext cx="39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ON THE PHONE</a:t>
            </a:r>
            <a:endParaRPr lang="en-US" sz="1000" b="1"/>
          </a:p>
        </p:txBody>
      </p:sp>
      <p:sp>
        <p:nvSpPr>
          <p:cNvPr id="152" name="text152"/>
          <p:cNvSpPr/>
          <p:nvPr/>
        </p:nvSpPr>
        <p:spPr>
          <a:xfrm>
            <a:off x="900000" y="2400000"/>
            <a:ext cx="44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2200" b="1">
                <a:latin typeface="Georgia"/>
                <a:solidFill>
                  <a:srgbClr val="272724"/>
                </a:solidFill>
              </a:defRPr>
            </a:pPr>
            <a:r>
              <a:rPr lang="en-US" sz="2200" b="1">
                <a:latin typeface="Georgia"/>
                <a:solidFill>
                  <a:srgbClr val="272724"/>
                </a:solidFill>
              </a:rPr>
              <a:t>Short-lived interface work</a:t>
            </a:r>
            <a:endParaRPr lang="en-US" sz="2200" b="1"/>
          </a:p>
        </p:txBody>
      </p:sp>
      <p:sp>
        <p:nvSpPr>
          <p:cNvPr id="153" name="text153"/>
          <p:cNvSpPr/>
          <p:nvPr/>
        </p:nvSpPr>
        <p:spPr>
          <a:xfrm>
            <a:off x="900000" y="3030000"/>
            <a:ext cx="4400000" cy="17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Browser UI loaded from the Pi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Camera preview stays on-device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One resized, manually approved plant crop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Local quality check + SHA-256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Optional plant-save / weed coordinates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Result display, heartbeat, and polling</a:t>
            </a:r>
            <a:endParaRPr lang="en-US" sz="1600"/>
          </a:p>
        </p:txBody>
      </p:sp>
      <p:sp>
        <p:nvSpPr>
          <p:cNvPr id="154" name="shape154"/>
          <p:cNvSpPr/>
          <p:nvPr/>
        </p:nvSpPr>
        <p:spPr>
          <a:xfrm>
            <a:off x="900000" y="5040000"/>
            <a:ext cx="4350000" cy="360000"/>
          </a:xfrm>
          <a:prstGeom prst="roundRect">
            <a:avLst/>
          </a:prstGeom>
          <a:solidFill>
            <a:srgbClr val="E2DFD5"/>
          </a:solidFill>
          <a:ln w="900">
            <a:solidFill>
              <a:srgbClr val="AAA79E"/>
            </a:solidFill>
          </a:ln>
        </p:spPr>
      </p:sp>
      <p:sp>
        <p:nvSpPr>
          <p:cNvPr id="155" name="text155"/>
          <p:cNvSpPr/>
          <p:nvPr/>
        </p:nvSpPr>
        <p:spPr>
          <a:xfrm>
            <a:off x="1020000" y="5140000"/>
            <a:ext cx="410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NO INSTALL  ·  NO WEIGHTS  ·  NO LOCAL DATABASE</a:t>
            </a:r>
            <a:endParaRPr lang="en-US" sz="1000" b="1"/>
          </a:p>
        </p:txBody>
      </p:sp>
      <p:sp>
        <p:nvSpPr>
          <p:cNvPr id="156" name="shape156"/>
          <p:cNvSpPr/>
          <p:nvPr/>
        </p:nvSpPr>
        <p:spPr>
          <a:xfrm>
            <a:off x="6250000" y="1720000"/>
            <a:ext cx="5250000" cy="3920000"/>
          </a:xfrm>
          <a:prstGeom prst="roundRect">
            <a:avLst/>
          </a:prstGeom>
          <a:solidFill>
            <a:srgbClr val="E2DFD5"/>
          </a:solidFill>
          <a:ln w="900">
            <a:solidFill>
              <a:srgbClr val="8B3028"/>
            </a:solidFill>
          </a:ln>
        </p:spPr>
      </p:sp>
      <p:sp>
        <p:nvSpPr>
          <p:cNvPr id="157" name="text157"/>
          <p:cNvSpPr/>
          <p:nvPr/>
        </p:nvSpPr>
        <p:spPr>
          <a:xfrm>
            <a:off x="6550000" y="2020000"/>
            <a:ext cx="42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000" b="1">
                <a:latin typeface="Arial"/>
                <a:solidFill>
                  <a:srgbClr val="8B3028"/>
                </a:solidFill>
              </a:defRPr>
            </a:pPr>
            <a:r>
              <a:rPr lang="en-US" sz="1000" b="1">
                <a:latin typeface="Arial"/>
                <a:solidFill>
                  <a:srgbClr val="8B3028"/>
                </a:solidFill>
              </a:rPr>
              <a:t>ON THE RASPBERRY PI</a:t>
            </a:r>
            <a:endParaRPr lang="en-US" sz="1000" b="1"/>
          </a:p>
        </p:txBody>
      </p:sp>
      <p:sp>
        <p:nvSpPr>
          <p:cNvPr id="158" name="text158"/>
          <p:cNvSpPr/>
          <p:nvPr/>
        </p:nvSpPr>
        <p:spPr>
          <a:xfrm>
            <a:off x="6550000" y="2400000"/>
            <a:ext cx="45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2200" b="1">
                <a:latin typeface="Georgia"/>
                <a:solidFill>
                  <a:srgbClr val="272724"/>
                </a:solidFill>
              </a:defRPr>
            </a:pPr>
            <a:r>
              <a:rPr lang="en-US" sz="2200" b="1">
                <a:latin typeface="Georgia"/>
                <a:solidFill>
                  <a:srgbClr val="272724"/>
                </a:solidFill>
              </a:rPr>
              <a:t>Long-lived intelligence and evidence</a:t>
            </a:r>
            <a:endParaRPr lang="en-US" sz="2200" b="1"/>
          </a:p>
        </p:txBody>
      </p:sp>
      <p:sp>
        <p:nvSpPr>
          <p:cNvPr id="159" name="text159"/>
          <p:cNvSpPr/>
          <p:nvPr/>
        </p:nvSpPr>
        <p:spPr>
          <a:xfrm>
            <a:off x="6550000" y="3030000"/>
            <a:ext cx="4450000" cy="17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Pairing, authorization, and mode state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Plant and weed inference runtimes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Confidence / acceptance policy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Botanical catalog, FTS knowledge, citations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Discovery images, notes, and map records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Pi camera, kiosk, local voice, and exports</a:t>
            </a:r>
            <a:endParaRPr lang="en-US" sz="1600"/>
          </a:p>
        </p:txBody>
      </p:sp>
      <p:sp>
        <p:nvSpPr>
          <p:cNvPr id="160" name="shape160"/>
          <p:cNvSpPr/>
          <p:nvPr/>
        </p:nvSpPr>
        <p:spPr>
          <a:xfrm>
            <a:off x="6550000" y="5040000"/>
            <a:ext cx="4350000" cy="360000"/>
          </a:xfrm>
          <a:prstGeom prst="roundRect">
            <a:avLst/>
          </a:prstGeom>
          <a:solidFill>
            <a:srgbClr val="8B3028"/>
          </a:solidFill>
          <a:ln w="900">
            <a:solidFill>
              <a:srgbClr val="8B3028"/>
            </a:solidFill>
          </a:ln>
        </p:spPr>
      </p:sp>
      <p:sp>
        <p:nvSpPr>
          <p:cNvPr id="161" name="text161"/>
          <p:cNvSpPr/>
          <p:nvPr/>
        </p:nvSpPr>
        <p:spPr>
          <a:xfrm>
            <a:off x="6700000" y="5140000"/>
            <a:ext cx="405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1000" b="1">
                <a:latin typeface="Arial"/>
                <a:solidFill>
                  <a:srgbClr val="F7F4E9"/>
                </a:solidFill>
              </a:defRPr>
            </a:pPr>
            <a:r>
              <a:rPr lang="en-US" sz="1000" b="1">
                <a:latin typeface="Arial"/>
                <a:solidFill>
                  <a:srgbClr val="F7F4E9"/>
                </a:solidFill>
              </a:rPr>
              <a:t>PI REMAINS THE SOURCE OF TRUTH</a:t>
            </a:r>
            <a:endParaRPr lang="en-US" sz="1000" b="1"/>
          </a:p>
        </p:txBody>
      </p:sp>
      <p:sp>
        <p:nvSpPr>
          <p:cNvPr id="162" name="text162"/>
          <p:cNvSpPr/>
          <p:nvPr/>
        </p:nvSpPr>
        <p:spPr>
          <a:xfrm>
            <a:off x="600000" y="5910000"/>
            <a:ext cx="10950000" cy="3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c">
              <a:defRPr sz="1100" b="1">
                <a:latin typeface="Arial"/>
                <a:solidFill>
                  <a:srgbClr val="272724"/>
                </a:solidFill>
              </a:defRPr>
            </a:pPr>
            <a:r>
              <a:rPr lang="en-US" sz="1100" b="1">
                <a:latin typeface="Arial"/>
                <a:solidFill>
                  <a:srgbClr val="272724"/>
                </a:solidFill>
              </a:rPr>
              <a:t>Privacy boundary · plant video is never streamed to the Pi. Weed samples are bounded still JPEGs, processed in memory and discarded; only supported detections with validated coordinates may persist.</a:t>
            </a:r>
            <a:endParaRPr lang="en-US" sz="1100" b="1"/>
          </a:p>
        </p:txBody>
      </p:sp>
      <p:sp>
        <p:nvSpPr>
          <p:cNvPr id="163" name="shape163"/>
          <p:cNvSpPr/>
          <p:nvPr/>
        </p:nvSpPr>
        <p:spPr>
          <a:xfrm>
            <a:off x="500000" y="6500000"/>
            <a:ext cx="11200000" cy="2000"/>
          </a:xfrm>
          <a:prstGeom prst="rect">
            <a:avLst/>
          </a:prstGeom>
          <a:solidFill>
            <a:srgbClr val="AAA79E"/>
          </a:solidFill>
          <a:ln>
            <a:noFill/>
          </a:ln>
        </p:spPr>
      </p:sp>
      <p:sp>
        <p:nvSpPr>
          <p:cNvPr id="164" name="text164"/>
          <p:cNvSpPr/>
          <p:nvPr/>
        </p:nvSpPr>
        <p:spPr>
          <a:xfrm>
            <a:off x="500000" y="6550000"/>
            <a:ext cx="95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800" b="1">
                <a:latin typeface="Arial"/>
                <a:solidFill>
                  <a:srgbClr val="85827B"/>
                </a:solidFill>
              </a:defRPr>
            </a:pPr>
            <a:r>
              <a:rPr lang="en-US" sz="800" b="1">
                <a:latin typeface="Arial"/>
                <a:solidFill>
                  <a:srgbClr val="85827B"/>
                </a:solidFill>
              </a:rPr>
              <a:t>BOTANIKA  ·  GEG XR HACKATHON 2026  ·  LOCAL-FIRST FIELD INTELLIGENCE</a:t>
            </a:r>
            <a:endParaRPr lang="en-US" sz="800" b="1"/>
          </a:p>
        </p:txBody>
      </p:sp>
      <p:sp>
        <p:nvSpPr>
          <p:cNvPr id="165" name="text165"/>
          <p:cNvSpPr/>
          <p:nvPr/>
        </p:nvSpPr>
        <p:spPr>
          <a:xfrm>
            <a:off x="11250000" y="6550000"/>
            <a:ext cx="4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r">
              <a:defRPr sz="900" b="1">
                <a:latin typeface="Arial"/>
                <a:solidFill>
                  <a:srgbClr val="486B51"/>
                </a:solidFill>
              </a:defRPr>
            </a:pPr>
            <a:r>
              <a:rPr lang="en-US" sz="900" b="1">
                <a:latin typeface="Arial"/>
                <a:solidFill>
                  <a:srgbClr val="486B51"/>
                </a:solidFill>
              </a:rPr>
              <a:t>05</a:t>
            </a:r>
            <a:endParaRPr lang="en-US" sz="9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tanika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3"/>
          </a:solidFill>
          <a:ln>
            <a:noFill/>
          </a:ln>
        </p:spPr>
      </p:sp>
      <p:sp>
        <p:nvSpPr>
          <p:cNvPr id="101" name="shape101"/>
          <p:cNvSpPr/>
          <p:nvPr/>
        </p:nvSpPr>
        <p:spPr>
          <a:xfrm>
            <a:off x="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2" name="shape102"/>
          <p:cNvSpPr/>
          <p:nvPr/>
        </p:nvSpPr>
        <p:spPr>
          <a:xfrm>
            <a:off x="4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3" name="shape103"/>
          <p:cNvSpPr/>
          <p:nvPr/>
        </p:nvSpPr>
        <p:spPr>
          <a:xfrm>
            <a:off x="8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4" name="shape104"/>
          <p:cNvSpPr/>
          <p:nvPr/>
        </p:nvSpPr>
        <p:spPr>
          <a:xfrm>
            <a:off x="12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5" name="shape105"/>
          <p:cNvSpPr/>
          <p:nvPr/>
        </p:nvSpPr>
        <p:spPr>
          <a:xfrm>
            <a:off x="16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6" name="shape106"/>
          <p:cNvSpPr/>
          <p:nvPr/>
        </p:nvSpPr>
        <p:spPr>
          <a:xfrm>
            <a:off x="21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7" name="shape107"/>
          <p:cNvSpPr/>
          <p:nvPr/>
        </p:nvSpPr>
        <p:spPr>
          <a:xfrm>
            <a:off x="25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8" name="shape108"/>
          <p:cNvSpPr/>
          <p:nvPr/>
        </p:nvSpPr>
        <p:spPr>
          <a:xfrm>
            <a:off x="29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9" name="shape109"/>
          <p:cNvSpPr/>
          <p:nvPr/>
        </p:nvSpPr>
        <p:spPr>
          <a:xfrm>
            <a:off x="33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0" name="shape110"/>
          <p:cNvSpPr/>
          <p:nvPr/>
        </p:nvSpPr>
        <p:spPr>
          <a:xfrm>
            <a:off x="37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1" name="shape111"/>
          <p:cNvSpPr/>
          <p:nvPr/>
        </p:nvSpPr>
        <p:spPr>
          <a:xfrm>
            <a:off x="42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2" name="shape112"/>
          <p:cNvSpPr/>
          <p:nvPr/>
        </p:nvSpPr>
        <p:spPr>
          <a:xfrm>
            <a:off x="46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3" name="shape113"/>
          <p:cNvSpPr/>
          <p:nvPr/>
        </p:nvSpPr>
        <p:spPr>
          <a:xfrm>
            <a:off x="50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4" name="shape114"/>
          <p:cNvSpPr/>
          <p:nvPr/>
        </p:nvSpPr>
        <p:spPr>
          <a:xfrm>
            <a:off x="54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5" name="shape115"/>
          <p:cNvSpPr/>
          <p:nvPr/>
        </p:nvSpPr>
        <p:spPr>
          <a:xfrm>
            <a:off x="58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6" name="shape116"/>
          <p:cNvSpPr/>
          <p:nvPr/>
        </p:nvSpPr>
        <p:spPr>
          <a:xfrm>
            <a:off x="63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7" name="shape117"/>
          <p:cNvSpPr/>
          <p:nvPr/>
        </p:nvSpPr>
        <p:spPr>
          <a:xfrm>
            <a:off x="67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8" name="shape118"/>
          <p:cNvSpPr/>
          <p:nvPr/>
        </p:nvSpPr>
        <p:spPr>
          <a:xfrm>
            <a:off x="71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9" name="shape119"/>
          <p:cNvSpPr/>
          <p:nvPr/>
        </p:nvSpPr>
        <p:spPr>
          <a:xfrm>
            <a:off x="75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0" name="shape120"/>
          <p:cNvSpPr/>
          <p:nvPr/>
        </p:nvSpPr>
        <p:spPr>
          <a:xfrm>
            <a:off x="79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1" name="shape121"/>
          <p:cNvSpPr/>
          <p:nvPr/>
        </p:nvSpPr>
        <p:spPr>
          <a:xfrm>
            <a:off x="84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2" name="shape122"/>
          <p:cNvSpPr/>
          <p:nvPr/>
        </p:nvSpPr>
        <p:spPr>
          <a:xfrm>
            <a:off x="88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3" name="shape123"/>
          <p:cNvSpPr/>
          <p:nvPr/>
        </p:nvSpPr>
        <p:spPr>
          <a:xfrm>
            <a:off x="92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4" name="shape124"/>
          <p:cNvSpPr/>
          <p:nvPr/>
        </p:nvSpPr>
        <p:spPr>
          <a:xfrm>
            <a:off x="96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5" name="shape125"/>
          <p:cNvSpPr/>
          <p:nvPr/>
        </p:nvSpPr>
        <p:spPr>
          <a:xfrm>
            <a:off x="100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6" name="shape126"/>
          <p:cNvSpPr/>
          <p:nvPr/>
        </p:nvSpPr>
        <p:spPr>
          <a:xfrm>
            <a:off x="105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7" name="shape127"/>
          <p:cNvSpPr/>
          <p:nvPr/>
        </p:nvSpPr>
        <p:spPr>
          <a:xfrm>
            <a:off x="109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8" name="shape128"/>
          <p:cNvSpPr/>
          <p:nvPr/>
        </p:nvSpPr>
        <p:spPr>
          <a:xfrm>
            <a:off x="113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9" name="shape129"/>
          <p:cNvSpPr/>
          <p:nvPr/>
        </p:nvSpPr>
        <p:spPr>
          <a:xfrm>
            <a:off x="117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0" name="shape130"/>
          <p:cNvSpPr/>
          <p:nvPr/>
        </p:nvSpPr>
        <p:spPr>
          <a:xfrm>
            <a:off x="121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1" name="shape131"/>
          <p:cNvSpPr/>
          <p:nvPr/>
        </p:nvSpPr>
        <p:spPr>
          <a:xfrm>
            <a:off x="0" y="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2" name="shape132"/>
          <p:cNvSpPr/>
          <p:nvPr/>
        </p:nvSpPr>
        <p:spPr>
          <a:xfrm>
            <a:off x="0" y="4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3" name="shape133"/>
          <p:cNvSpPr/>
          <p:nvPr/>
        </p:nvSpPr>
        <p:spPr>
          <a:xfrm>
            <a:off x="0" y="8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4" name="shape134"/>
          <p:cNvSpPr/>
          <p:nvPr/>
        </p:nvSpPr>
        <p:spPr>
          <a:xfrm>
            <a:off x="0" y="12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5" name="shape135"/>
          <p:cNvSpPr/>
          <p:nvPr/>
        </p:nvSpPr>
        <p:spPr>
          <a:xfrm>
            <a:off x="0" y="16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6" name="shape136"/>
          <p:cNvSpPr/>
          <p:nvPr/>
        </p:nvSpPr>
        <p:spPr>
          <a:xfrm>
            <a:off x="0" y="21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7" name="shape137"/>
          <p:cNvSpPr/>
          <p:nvPr/>
        </p:nvSpPr>
        <p:spPr>
          <a:xfrm>
            <a:off x="0" y="25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8" name="shape138"/>
          <p:cNvSpPr/>
          <p:nvPr/>
        </p:nvSpPr>
        <p:spPr>
          <a:xfrm>
            <a:off x="0" y="29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9" name="shape139"/>
          <p:cNvSpPr/>
          <p:nvPr/>
        </p:nvSpPr>
        <p:spPr>
          <a:xfrm>
            <a:off x="0" y="33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0" name="shape140"/>
          <p:cNvSpPr/>
          <p:nvPr/>
        </p:nvSpPr>
        <p:spPr>
          <a:xfrm>
            <a:off x="0" y="37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1" name="shape141"/>
          <p:cNvSpPr/>
          <p:nvPr/>
        </p:nvSpPr>
        <p:spPr>
          <a:xfrm>
            <a:off x="0" y="42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2" name="shape142"/>
          <p:cNvSpPr/>
          <p:nvPr/>
        </p:nvSpPr>
        <p:spPr>
          <a:xfrm>
            <a:off x="0" y="46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3" name="shape143"/>
          <p:cNvSpPr/>
          <p:nvPr/>
        </p:nvSpPr>
        <p:spPr>
          <a:xfrm>
            <a:off x="0" y="50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4" name="shape144"/>
          <p:cNvSpPr/>
          <p:nvPr/>
        </p:nvSpPr>
        <p:spPr>
          <a:xfrm>
            <a:off x="0" y="54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5" name="shape145"/>
          <p:cNvSpPr/>
          <p:nvPr/>
        </p:nvSpPr>
        <p:spPr>
          <a:xfrm>
            <a:off x="0" y="58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6" name="shape146"/>
          <p:cNvSpPr/>
          <p:nvPr/>
        </p:nvSpPr>
        <p:spPr>
          <a:xfrm>
            <a:off x="0" y="63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7" name="shape147"/>
          <p:cNvSpPr/>
          <p:nvPr/>
        </p:nvSpPr>
        <p:spPr>
          <a:xfrm>
            <a:off x="0" y="67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8" name="text148"/>
          <p:cNvSpPr/>
          <p:nvPr/>
        </p:nvSpPr>
        <p:spPr>
          <a:xfrm>
            <a:off x="600000" y="480000"/>
            <a:ext cx="4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05  ·  MODES, GUARANTEES + LIMITS</a:t>
            </a:r>
            <a:endParaRPr lang="en-US" sz="1000" b="1"/>
          </a:p>
        </p:txBody>
      </p:sp>
      <p:sp>
        <p:nvSpPr>
          <p:cNvPr id="149" name="text149"/>
          <p:cNvSpPr/>
          <p:nvPr/>
        </p:nvSpPr>
        <p:spPr>
          <a:xfrm>
            <a:off x="600000" y="780000"/>
            <a:ext cx="95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3100" b="1">
                <a:latin typeface="Georgia"/>
                <a:solidFill>
                  <a:srgbClr val="272724"/>
                </a:solidFill>
              </a:defRPr>
            </a:pPr>
            <a:r>
              <a:rPr lang="en-US" sz="3100" b="1">
                <a:latin typeface="Georgia"/>
                <a:solidFill>
                  <a:srgbClr val="272724"/>
                </a:solidFill>
              </a:rPr>
              <a:t>Three access paths. One authoritative backend.</a:t>
            </a:r>
            <a:endParaRPr lang="en-US" sz="3100" b="1"/>
          </a:p>
        </p:txBody>
      </p:sp>
      <p:sp>
        <p:nvSpPr>
          <p:cNvPr id="150" name="shape150"/>
          <p:cNvSpPr/>
          <p:nvPr/>
        </p:nvSpPr>
        <p:spPr>
          <a:xfrm>
            <a:off x="600000" y="1850000"/>
            <a:ext cx="3450000" cy="265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486B51"/>
            </a:solidFill>
          </a:ln>
        </p:spPr>
      </p:sp>
      <p:sp>
        <p:nvSpPr>
          <p:cNvPr id="151" name="text151"/>
          <p:cNvSpPr/>
          <p:nvPr/>
        </p:nvSpPr>
        <p:spPr>
          <a:xfrm>
            <a:off x="880000" y="2180000"/>
            <a:ext cx="285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200" b="1">
                <a:latin typeface="Arial"/>
                <a:solidFill>
                  <a:srgbClr val="486B51"/>
                </a:solidFill>
              </a:defRPr>
            </a:pPr>
            <a:r>
              <a:rPr lang="en-US" sz="1200" b="1">
                <a:latin typeface="Arial"/>
                <a:solidFill>
                  <a:srgbClr val="486B51"/>
                </a:solidFill>
              </a:rPr>
              <a:t>SOLO · OFFLINE</a:t>
            </a:r>
            <a:endParaRPr lang="en-US" sz="1200" b="1"/>
          </a:p>
        </p:txBody>
      </p:sp>
      <p:sp>
        <p:nvSpPr>
          <p:cNvPr id="152" name="text152"/>
          <p:cNvSpPr/>
          <p:nvPr/>
        </p:nvSpPr>
        <p:spPr>
          <a:xfrm>
            <a:off x="880000" y="2650000"/>
            <a:ext cx="2850000" cy="14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Pi kiosk + Pi Camera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FastAPI bound to loopback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Models, knowledge, voice, and library local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No phone or network required</a:t>
            </a:r>
            <a:endParaRPr lang="en-US" sz="1600"/>
          </a:p>
        </p:txBody>
      </p:sp>
      <p:sp>
        <p:nvSpPr>
          <p:cNvPr id="153" name="shape153"/>
          <p:cNvSpPr/>
          <p:nvPr/>
        </p:nvSpPr>
        <p:spPr>
          <a:xfrm>
            <a:off x="4480000" y="1850000"/>
            <a:ext cx="3450000" cy="265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8A692E"/>
            </a:solidFill>
          </a:ln>
        </p:spPr>
      </p:sp>
      <p:sp>
        <p:nvSpPr>
          <p:cNvPr id="154" name="text154"/>
          <p:cNvSpPr/>
          <p:nvPr/>
        </p:nvSpPr>
        <p:spPr>
          <a:xfrm>
            <a:off x="4760000" y="2180000"/>
            <a:ext cx="285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200" b="1">
                <a:latin typeface="Arial"/>
                <a:solidFill>
                  <a:srgbClr val="8A692E"/>
                </a:solidFill>
              </a:defRPr>
            </a:pPr>
            <a:r>
              <a:rPr lang="en-US" sz="1200" b="1">
                <a:latin typeface="Arial"/>
                <a:solidFill>
                  <a:srgbClr val="8A692E"/>
                </a:solidFill>
              </a:rPr>
              <a:t>PRIVATE AP · OFFLINE</a:t>
            </a:r>
            <a:endParaRPr lang="en-US" sz="1200" b="1"/>
          </a:p>
        </p:txBody>
      </p:sp>
      <p:sp>
        <p:nvSpPr>
          <p:cNvPr id="155" name="text155"/>
          <p:cNvSpPr/>
          <p:nvPr/>
        </p:nvSpPr>
        <p:spPr>
          <a:xfrm>
            <a:off x="4760000" y="2650000"/>
            <a:ext cx="2850000" cy="14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Phone joins Botanika Wi-Fi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Same pairing and crop API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Firewall blocks forwarding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Fallback when internet is unavailable</a:t>
            </a:r>
            <a:endParaRPr lang="en-US" sz="1600"/>
          </a:p>
        </p:txBody>
      </p:sp>
      <p:sp>
        <p:nvSpPr>
          <p:cNvPr id="156" name="shape156"/>
          <p:cNvSpPr/>
          <p:nvPr/>
        </p:nvSpPr>
        <p:spPr>
          <a:xfrm>
            <a:off x="8360000" y="1850000"/>
            <a:ext cx="3450000" cy="265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8B3028"/>
            </a:solidFill>
          </a:ln>
        </p:spPr>
      </p:sp>
      <p:sp>
        <p:nvSpPr>
          <p:cNvPr id="157" name="text157"/>
          <p:cNvSpPr/>
          <p:nvPr/>
        </p:nvSpPr>
        <p:spPr>
          <a:xfrm>
            <a:off x="8640000" y="2180000"/>
            <a:ext cx="285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200" b="1">
                <a:latin typeface="Arial"/>
                <a:solidFill>
                  <a:srgbClr val="8B3028"/>
                </a:solidFill>
              </a:defRPr>
            </a:pPr>
            <a:r>
              <a:rPr lang="en-US" sz="1200" b="1">
                <a:latin typeface="Arial"/>
                <a:solidFill>
                  <a:srgbClr val="8B3028"/>
                </a:solidFill>
              </a:rPr>
              <a:t>QUICK TUNNEL · REMOTE</a:t>
            </a:r>
            <a:endParaRPr lang="en-US" sz="1200" b="1"/>
          </a:p>
        </p:txBody>
      </p:sp>
      <p:sp>
        <p:nvSpPr>
          <p:cNvPr id="158" name="text158"/>
          <p:cNvSpPr/>
          <p:nvPr/>
        </p:nvSpPr>
        <p:spPr>
          <a:xfrm>
            <a:off x="8640000" y="2650000"/>
            <a:ext cx="2850000" cy="14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Phone may use another network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Temporary HTTPS URL + QR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Pi backend remains loopback-only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Development/test transport; no SLA</a:t>
            </a:r>
            <a:endParaRPr lang="en-US" sz="1600"/>
          </a:p>
        </p:txBody>
      </p:sp>
      <p:sp>
        <p:nvSpPr>
          <p:cNvPr id="159" name="shape159"/>
          <p:cNvSpPr/>
          <p:nvPr/>
        </p:nvSpPr>
        <p:spPr>
          <a:xfrm>
            <a:off x="600000" y="4850000"/>
            <a:ext cx="10950000" cy="1050000"/>
          </a:xfrm>
          <a:prstGeom prst="roundRect">
            <a:avLst/>
          </a:prstGeom>
          <a:solidFill>
            <a:srgbClr val="486B51"/>
          </a:solidFill>
          <a:ln w="900">
            <a:solidFill>
              <a:srgbClr val="486B51"/>
            </a:solidFill>
          </a:ln>
        </p:spPr>
      </p:sp>
      <p:sp>
        <p:nvSpPr>
          <p:cNvPr id="160" name="text160"/>
          <p:cNvSpPr/>
          <p:nvPr/>
        </p:nvSpPr>
        <p:spPr>
          <a:xfrm>
            <a:off x="900000" y="5050000"/>
            <a:ext cx="205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100" b="1">
                <a:latin typeface="Arial"/>
                <a:solidFill>
                  <a:srgbClr val="F7F4E9"/>
                </a:solidFill>
              </a:defRPr>
            </a:pPr>
            <a:r>
              <a:rPr lang="en-US" sz="1100" b="1">
                <a:latin typeface="Arial"/>
                <a:solidFill>
                  <a:srgbClr val="F7F4E9"/>
                </a:solidFill>
              </a:rPr>
              <a:t>FAIL-CLOSED CONTRACT</a:t>
            </a:r>
            <a:endParaRPr lang="en-US" sz="1100" b="1"/>
          </a:p>
        </p:txBody>
      </p:sp>
      <p:sp>
        <p:nvSpPr>
          <p:cNvPr id="161" name="text161"/>
          <p:cNvSpPr/>
          <p:nvPr/>
        </p:nvSpPr>
        <p:spPr>
          <a:xfrm>
            <a:off x="2950000" y="5000000"/>
            <a:ext cx="81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1600" b="1">
                <a:latin typeface="Arial"/>
                <a:solidFill>
                  <a:srgbClr val="F7F4E9"/>
                </a:solidFill>
              </a:defRPr>
            </a:pPr>
            <a:r>
              <a:rPr lang="en-US" sz="1600" b="1">
                <a:latin typeface="Arial"/>
                <a:solidFill>
                  <a:srgbClr val="F7F4E9"/>
                </a:solidFill>
              </a:rPr>
              <a:t>One active controller  ·  lease revoked on SOLO / disconnect / expiry / takeover / restart  ·  stale crop and save rejected  ·  uncertain stays visible</a:t>
            </a:r>
            <a:endParaRPr lang="en-US" sz="1600" b="1"/>
          </a:p>
        </p:txBody>
      </p:sp>
      <p:sp>
        <p:nvSpPr>
          <p:cNvPr id="162" name="text162"/>
          <p:cNvSpPr/>
          <p:nvPr/>
        </p:nvSpPr>
        <p:spPr>
          <a:xfrm>
            <a:off x="600000" y="6090000"/>
            <a:ext cx="108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00" tIns="10000" rIns="10000" bIns="10000"/>
          <a:lstStyle/>
          <a:p>
            <a:pPr algn="c">
              <a:defRPr sz="1100" b="1">
                <a:latin typeface="Arial"/>
                <a:solidFill>
                  <a:srgbClr val="8B3028"/>
                </a:solidFill>
              </a:defRPr>
            </a:pPr>
            <a:r>
              <a:rPr lang="en-US" sz="1100" b="1">
                <a:latin typeface="Arial"/>
                <a:solidFill>
                  <a:srgbClr val="8B3028"/>
                </a:solidFill>
              </a:rPr>
              <a:t>Current limit · production identification remains gated until held-out field accuracy and Raspberry Pi latency / memory / thermal benchmarks pass.</a:t>
            </a:r>
            <a:endParaRPr lang="en-US" sz="1100" b="1"/>
          </a:p>
        </p:txBody>
      </p:sp>
      <p:sp>
        <p:nvSpPr>
          <p:cNvPr id="163" name="shape163"/>
          <p:cNvSpPr/>
          <p:nvPr/>
        </p:nvSpPr>
        <p:spPr>
          <a:xfrm>
            <a:off x="500000" y="6500000"/>
            <a:ext cx="11200000" cy="2000"/>
          </a:xfrm>
          <a:prstGeom prst="rect">
            <a:avLst/>
          </a:prstGeom>
          <a:solidFill>
            <a:srgbClr val="AAA79E"/>
          </a:solidFill>
          <a:ln>
            <a:noFill/>
          </a:ln>
        </p:spPr>
      </p:sp>
      <p:sp>
        <p:nvSpPr>
          <p:cNvPr id="164" name="text164"/>
          <p:cNvSpPr/>
          <p:nvPr/>
        </p:nvSpPr>
        <p:spPr>
          <a:xfrm>
            <a:off x="500000" y="6550000"/>
            <a:ext cx="95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l">
              <a:defRPr sz="800" b="1">
                <a:latin typeface="Arial"/>
                <a:solidFill>
                  <a:srgbClr val="85827B"/>
                </a:solidFill>
              </a:defRPr>
            </a:pPr>
            <a:r>
              <a:rPr lang="en-US" sz="800" b="1">
                <a:latin typeface="Arial"/>
                <a:solidFill>
                  <a:srgbClr val="85827B"/>
                </a:solidFill>
              </a:rPr>
              <a:t>BOTANIKA  ·  GEG XR HACKATHON 2026  ·  LOCAL-FIRST FIELD INTELLIGENCE</a:t>
            </a:r>
            <a:endParaRPr lang="en-US" sz="800" b="1"/>
          </a:p>
        </p:txBody>
      </p:sp>
      <p:sp>
        <p:nvSpPr>
          <p:cNvPr id="165" name="text165"/>
          <p:cNvSpPr/>
          <p:nvPr/>
        </p:nvSpPr>
        <p:spPr>
          <a:xfrm>
            <a:off x="11250000" y="6550000"/>
            <a:ext cx="4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tIns="30000" rIns="30000" bIns="30000"/>
          <a:lstStyle/>
          <a:p>
            <a:pPr algn="r">
              <a:defRPr sz="900" b="1">
                <a:latin typeface="Arial"/>
                <a:solidFill>
                  <a:srgbClr val="486B51"/>
                </a:solidFill>
              </a:defRPr>
            </a:pPr>
            <a:r>
              <a:rPr lang="en-US" sz="900" b="1">
                <a:latin typeface="Arial"/>
                <a:solidFill>
                  <a:srgbClr val="486B51"/>
                </a:solidFill>
              </a:rPr>
              <a:t>06</a:t>
            </a:r>
            <a:endParaRPr lang="en-US" sz="9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tanika">
  <a:themeElements>
    <a:clrScheme name="Botanika">
      <a:dk1>
        <a:srgbClr val="272724"/>
      </a:dk1>
      <a:lt1>
        <a:srgbClr val="EFEDE3"/>
      </a:lt1>
      <a:dk2>
        <a:srgbClr val="5F5E59"/>
      </a:dk2>
      <a:lt2>
        <a:srgbClr val="F7F4E9"/>
      </a:lt2>
      <a:accent1>
        <a:srgbClr val="486B51"/>
      </a:accent1>
      <a:accent2>
        <a:srgbClr val="8A692E"/>
      </a:accent2>
      <a:accent3>
        <a:srgbClr val="8B3028"/>
      </a:accent3>
      <a:accent4>
        <a:srgbClr val="E2DFD5"/>
      </a:accent4>
      <a:accent5>
        <a:srgbClr val="AAA79E"/>
      </a:accent5>
      <a:accent6>
        <a:srgbClr val="85827B"/>
      </a:accent6>
      <a:hlink>
        <a:srgbClr val="486B51"/>
      </a:hlink>
      <a:folHlink>
        <a:srgbClr val="8B3028"/>
      </a:folHlink>
    </a:clrScheme>
    <a:fontScheme name="Botanika">
      <a:majorFont>
        <a:latin typeface="Georgia"/>
      </a:majorFont>
      <a:minorFont>
        <a:latin typeface="Arial"/>
      </a:minorFont>
    </a:fontScheme>
    <a:fmtScheme name="Botanika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Botanika presentation generator</Application>
  <PresentationFormat>Widescreen</PresentationFormat>
  <Slides>6</Slides>
</Properties>
</file>

<file path=docProps/core.xml><?xml version="1.0" encoding="utf-8"?>
<cp:coreProperties xmlns:cp="http://schemas.openxmlformats.org/package/2006/metadata/core-properties" xmlns:dc="http://purl.org/dc/elements/1.1/">
  <dc:title>Botanika — Field Intelligence for India’s Native Flora</dc:title>
  <dc:subject>GEG XR Hackathon 2026</dc:subject>
  <dc:creator>Team Botanika</dc:creator>
</cp:coreProperties>
</file>